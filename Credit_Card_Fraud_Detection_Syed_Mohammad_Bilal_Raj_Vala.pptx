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0"/>
    <p:restoredTop sz="94715"/>
  </p:normalViewPr>
  <p:slideViewPr>
    <p:cSldViewPr>
      <p:cViewPr varScale="1">
        <p:scale>
          <a:sx n="112" d="100"/>
          <a:sy n="112" d="100"/>
        </p:scale>
        <p:origin x="200" y="3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Mohammad  Bilal" userId="475b423c-7ed5-4979-88f5-39d0528f1b65" providerId="ADAL" clId="{742795A6-14C2-A249-B0C2-5BADCA032F5F}"/>
    <pc:docChg chg="undo custSel addSld delSld modSld">
      <pc:chgData name="Syed Mohammad  Bilal" userId="475b423c-7ed5-4979-88f5-39d0528f1b65" providerId="ADAL" clId="{742795A6-14C2-A249-B0C2-5BADCA032F5F}" dt="2025-06-24T18:39:33.515" v="9" actId="20577"/>
      <pc:docMkLst>
        <pc:docMk/>
      </pc:docMkLst>
      <pc:sldChg chg="addSp delSp modSp mod modTransition">
        <pc:chgData name="Syed Mohammad  Bilal" userId="475b423c-7ed5-4979-88f5-39d0528f1b65" providerId="ADAL" clId="{742795A6-14C2-A249-B0C2-5BADCA032F5F}" dt="2025-06-24T18:20:05.363" v="3"/>
        <pc:sldMkLst>
          <pc:docMk/>
          <pc:sldMk cId="0" sldId="256"/>
        </pc:sldMkLst>
        <pc:spChg chg="add del mod">
          <ac:chgData name="Syed Mohammad  Bilal" userId="475b423c-7ed5-4979-88f5-39d0528f1b65" providerId="ADAL" clId="{742795A6-14C2-A249-B0C2-5BADCA032F5F}" dt="2025-06-24T18:20:05.363" v="3"/>
          <ac:spMkLst>
            <pc:docMk/>
            <pc:sldMk cId="0" sldId="256"/>
            <ac:spMk id="11" creationId="{AC0FB34E-D6A1-B1F5-B920-4E2168EFA8E2}"/>
          </ac:spMkLst>
        </pc:spChg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57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58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59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0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1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2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3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4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5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6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7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8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69"/>
        </pc:sldMkLst>
      </pc:sldChg>
      <pc:sldChg chg="modSp mod modTransition">
        <pc:chgData name="Syed Mohammad  Bilal" userId="475b423c-7ed5-4979-88f5-39d0528f1b65" providerId="ADAL" clId="{742795A6-14C2-A249-B0C2-5BADCA032F5F}" dt="2025-06-24T18:39:33.515" v="9" actId="20577"/>
        <pc:sldMkLst>
          <pc:docMk/>
          <pc:sldMk cId="0" sldId="270"/>
        </pc:sldMkLst>
        <pc:spChg chg="mod">
          <ac:chgData name="Syed Mohammad  Bilal" userId="475b423c-7ed5-4979-88f5-39d0528f1b65" providerId="ADAL" clId="{742795A6-14C2-A249-B0C2-5BADCA032F5F}" dt="2025-06-24T18:39:33.515" v="9" actId="20577"/>
          <ac:spMkLst>
            <pc:docMk/>
            <pc:sldMk cId="0" sldId="270"/>
            <ac:spMk id="13" creationId="{1B9EEB93-2B6F-7997-6C0F-AA13640411B4}"/>
          </ac:spMkLst>
        </pc:spChg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1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2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3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4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5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6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7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8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79"/>
        </pc:sldMkLst>
      </pc:sldChg>
      <pc:sldChg chg="modTransition">
        <pc:chgData name="Syed Mohammad  Bilal" userId="475b423c-7ed5-4979-88f5-39d0528f1b65" providerId="ADAL" clId="{742795A6-14C2-A249-B0C2-5BADCA032F5F}" dt="2025-06-24T18:19:07.883" v="0"/>
        <pc:sldMkLst>
          <pc:docMk/>
          <pc:sldMk cId="0" sldId="280"/>
        </pc:sldMkLst>
      </pc:sldChg>
      <pc:sldChg chg="new del">
        <pc:chgData name="Syed Mohammad  Bilal" userId="475b423c-7ed5-4979-88f5-39d0528f1b65" providerId="ADAL" clId="{742795A6-14C2-A249-B0C2-5BADCA032F5F}" dt="2025-06-24T18:21:01.720" v="5" actId="680"/>
        <pc:sldMkLst>
          <pc:docMk/>
          <pc:sldMk cId="1321703122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4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26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3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8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7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1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4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3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7600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1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80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94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96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68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808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290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jp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1000" y="672472"/>
            <a:ext cx="1108868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835" marR="5080" indent="-3493770" algn="ctr">
              <a:lnSpc>
                <a:spcPct val="100000"/>
              </a:lnSpc>
              <a:spcBef>
                <a:spcPts val="100"/>
              </a:spcBef>
            </a:pPr>
            <a:r>
              <a:rPr lang="en-US" sz="5400" dirty="0"/>
              <a:t>CAPSTONE PROJECT</a:t>
            </a:r>
            <a:endParaRPr sz="5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1600" y="5458459"/>
            <a:ext cx="350392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DS-C68 Batch 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276B6D9D-4098-1085-99D9-8398D08AE91A}"/>
              </a:ext>
            </a:extLst>
          </p:cNvPr>
          <p:cNvSpPr txBox="1"/>
          <p:nvPr/>
        </p:nvSpPr>
        <p:spPr>
          <a:xfrm>
            <a:off x="1041298" y="5458459"/>
            <a:ext cx="4064102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SUBMITTED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endParaRPr lang="en-US" sz="2000" spc="-35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Syed Mohammad Bilal &amp; Raj </a:t>
            </a:r>
            <a:r>
              <a:rPr lang="en-US" sz="2000" spc="-35" dirty="0" err="1">
                <a:solidFill>
                  <a:srgbClr val="FFFFFF"/>
                </a:solidFill>
                <a:latin typeface="Times New Roman"/>
                <a:cs typeface="Times New Roman"/>
              </a:rPr>
              <a:t>Vala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D6AB6-349A-AC3A-6FF0-7BDEF1729ED5}"/>
              </a:ext>
            </a:extLst>
          </p:cNvPr>
          <p:cNvSpPr txBox="1"/>
          <p:nvPr/>
        </p:nvSpPr>
        <p:spPr>
          <a:xfrm>
            <a:off x="2362200" y="2092271"/>
            <a:ext cx="7997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dirty="0">
                <a:latin typeface="Times New Roman"/>
                <a:cs typeface="Times New Roman"/>
              </a:rPr>
              <a:t>Credit</a:t>
            </a:r>
            <a:r>
              <a:rPr lang="en-US" sz="4000" b="0" spc="-75" dirty="0">
                <a:latin typeface="Times New Roman"/>
                <a:cs typeface="Times New Roman"/>
              </a:rPr>
              <a:t> </a:t>
            </a:r>
            <a:r>
              <a:rPr lang="en-US" sz="4000" b="0" dirty="0">
                <a:latin typeface="Times New Roman"/>
                <a:cs typeface="Times New Roman"/>
              </a:rPr>
              <a:t>Card</a:t>
            </a:r>
            <a:r>
              <a:rPr lang="en-US" sz="4000" b="0" spc="-70" dirty="0">
                <a:latin typeface="Times New Roman"/>
                <a:cs typeface="Times New Roman"/>
              </a:rPr>
              <a:t> </a:t>
            </a:r>
            <a:r>
              <a:rPr lang="en-US" sz="4000" b="0" spc="-10" dirty="0">
                <a:latin typeface="Times New Roman"/>
                <a:cs typeface="Times New Roman"/>
              </a:rPr>
              <a:t>Fraud Detection Model</a:t>
            </a:r>
            <a:endParaRPr lang="en-US" sz="4000" dirty="0"/>
          </a:p>
        </p:txBody>
      </p:sp>
      <p:pic>
        <p:nvPicPr>
          <p:cNvPr id="20" name="object 5">
            <a:extLst>
              <a:ext uri="{FF2B5EF4-FFF2-40B4-BE49-F238E27FC236}">
                <a16:creationId xmlns:a16="http://schemas.microsoft.com/office/drawing/2014/main" id="{9B4BECA7-6202-01A4-C554-44E18991BD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9455" y="3267354"/>
            <a:ext cx="3118631" cy="15809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" y="891540"/>
            <a:ext cx="4712208" cy="5449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3139" y="860373"/>
            <a:ext cx="4219575" cy="521652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1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230"/>
              </a:spcBef>
              <a:buClr>
                <a:srgbClr val="00C5BA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 statement</a:t>
            </a:r>
            <a:endParaRPr sz="2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225"/>
              </a:spcBef>
              <a:buClr>
                <a:srgbClr val="00C5BA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endParaRPr sz="2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225"/>
              </a:spcBef>
              <a:buClr>
                <a:srgbClr val="00C5BA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Objective</a:t>
            </a:r>
            <a:endParaRPr lang="en-US" sz="2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6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r>
              <a:rPr lang="en-US"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US"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lang="en-US"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0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Reflection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Recommendation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14800" y="216076"/>
            <a:ext cx="260909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AGEND</a:t>
            </a:r>
            <a:r>
              <a:rPr lang="en-US" sz="48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4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4820" y="2133600"/>
            <a:ext cx="11727180" cy="435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C5BA"/>
                </a:solidFill>
                <a:latin typeface="Wingdings 2"/>
                <a:cs typeface="Wingdings 2"/>
              </a:rPr>
              <a:t></a:t>
            </a:r>
            <a:r>
              <a:rPr sz="2400" spc="-50" dirty="0">
                <a:solidFill>
                  <a:srgbClr val="00C5B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inclusive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committed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card,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debit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card.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obtain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goods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services,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make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account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controlled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criminal.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recent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times,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number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increased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drastically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companies are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facing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lot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challenges.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banks,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retaining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profitable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customers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most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important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goal.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Banking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fraud,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however,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poses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significant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threat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goal.Apart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this,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ways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 making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follows:</a:t>
            </a:r>
            <a:endParaRPr sz="24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10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Manipulation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alteration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genuine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endParaRPr sz="20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08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Creation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counterfeit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endParaRPr sz="20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08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Stolen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lost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endParaRPr sz="20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08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telemarketing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EDFC853C-C063-816C-E750-5AA27544EB35}"/>
              </a:ext>
            </a:extLst>
          </p:cNvPr>
          <p:cNvSpPr txBox="1">
            <a:spLocks/>
          </p:cNvSpPr>
          <p:nvPr/>
        </p:nvSpPr>
        <p:spPr>
          <a:xfrm>
            <a:off x="3581400" y="224746"/>
            <a:ext cx="4724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95743" y="1905000"/>
            <a:ext cx="11525885" cy="40227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7736205" algn="l"/>
              </a:tabLst>
            </a:pPr>
            <a:r>
              <a:rPr sz="2500" spc="-25" dirty="0">
                <a:solidFill>
                  <a:srgbClr val="00C5BA"/>
                </a:solidFill>
                <a:latin typeface="Wingdings 2"/>
                <a:cs typeface="Wingdings 2"/>
              </a:rPr>
              <a:t></a:t>
            </a:r>
            <a:r>
              <a:rPr sz="2500" spc="-150" dirty="0">
                <a:solidFill>
                  <a:srgbClr val="00C5BA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Detecting</a:t>
            </a:r>
            <a:r>
              <a:rPr sz="25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2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	a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banking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industry.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dirty="0">
                <a:solidFill>
                  <a:srgbClr val="00C5BA"/>
                </a:solidFill>
                <a:latin typeface="Wingdings 2"/>
                <a:cs typeface="Wingdings 2"/>
              </a:rPr>
              <a:t></a:t>
            </a:r>
            <a:r>
              <a:rPr sz="2500" spc="-160" dirty="0">
                <a:solidFill>
                  <a:srgbClr val="00C5BA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500" b="1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put</a:t>
            </a:r>
            <a:r>
              <a:rPr sz="2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proactive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monitoring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prevention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mechanisms</a:t>
            </a:r>
            <a:r>
              <a:rPr sz="25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place.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500" spc="-25" dirty="0">
                <a:solidFill>
                  <a:srgbClr val="00C5BA"/>
                </a:solidFill>
                <a:latin typeface="Wingdings 2"/>
                <a:cs typeface="Wingdings 2"/>
              </a:rPr>
              <a:t></a:t>
            </a:r>
            <a:r>
              <a:rPr sz="2500" spc="-150" dirty="0">
                <a:solidFill>
                  <a:srgbClr val="00C5BA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5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effective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humans.</a:t>
            </a:r>
            <a:endParaRPr sz="2500" dirty="0">
              <a:latin typeface="Times New Roman"/>
              <a:cs typeface="Times New Roman"/>
            </a:endParaRPr>
          </a:p>
          <a:p>
            <a:pPr marL="354965" marR="184150" indent="-342900">
              <a:lnSpc>
                <a:spcPct val="80000"/>
              </a:lnSpc>
              <a:spcBef>
                <a:spcPts val="1200"/>
              </a:spcBef>
            </a:pPr>
            <a:r>
              <a:rPr sz="2500" spc="-25" dirty="0">
                <a:solidFill>
                  <a:srgbClr val="00C5BA"/>
                </a:solidFill>
                <a:latin typeface="Wingdings 2"/>
                <a:cs typeface="Wingdings 2"/>
              </a:rPr>
              <a:t></a:t>
            </a:r>
            <a:r>
              <a:rPr sz="2500" spc="-150" dirty="0">
                <a:solidFill>
                  <a:srgbClr val="00C5BA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5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concept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behind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5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sz="25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fraudulent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5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sz="2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legitimate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buClr>
                <a:srgbClr val="00C5BA"/>
              </a:buClr>
              <a:buFont typeface="Wingdings"/>
              <a:buChar char=""/>
              <a:tabLst>
                <a:tab pos="75628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institutions-</a:t>
            </a:r>
            <a:endParaRPr sz="180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spcBef>
                <a:spcPts val="600"/>
              </a:spcBef>
              <a:buClr>
                <a:srgbClr val="00C5BA"/>
              </a:buClr>
              <a:buFont typeface="Wingdings"/>
              <a:buChar char=""/>
              <a:tabLst>
                <a:tab pos="756285" algn="l"/>
              </a:tabLst>
            </a:pPr>
            <a:r>
              <a:rPr sz="1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time-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consuming</a:t>
            </a:r>
            <a:r>
              <a:rPr sz="1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manual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reviews.</a:t>
            </a:r>
            <a:endParaRPr sz="1800" dirty="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600"/>
              </a:spcBef>
              <a:buClr>
                <a:srgbClr val="00C5BA"/>
              </a:buClr>
              <a:buFont typeface="Wingdings"/>
              <a:buChar char=""/>
              <a:tabLst>
                <a:tab pos="755650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Costly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chargebacks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fees.</a:t>
            </a:r>
            <a:endParaRPr sz="180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spcBef>
                <a:spcPts val="600"/>
              </a:spcBef>
              <a:buClr>
                <a:srgbClr val="00C5BA"/>
              </a:buClr>
              <a:buFont typeface="Wingdings"/>
              <a:buChar char=""/>
              <a:tabLst>
                <a:tab pos="75628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Denial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legitimate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6A40571-C393-1AF3-8C86-8DD8CABB1412}"/>
              </a:ext>
            </a:extLst>
          </p:cNvPr>
          <p:cNvSpPr txBox="1">
            <a:spLocks/>
          </p:cNvSpPr>
          <p:nvPr/>
        </p:nvSpPr>
        <p:spPr>
          <a:xfrm>
            <a:off x="2967785" y="304800"/>
            <a:ext cx="6781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7367" y="4353001"/>
            <a:ext cx="3136265" cy="791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6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2.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Build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detect</a:t>
            </a:r>
            <a:endParaRPr sz="1400" dirty="0">
              <a:latin typeface="Times New Roman"/>
              <a:cs typeface="Times New Roman"/>
            </a:endParaRPr>
          </a:p>
          <a:p>
            <a:pPr marL="111760" marR="104775" indent="8890" algn="ctr">
              <a:lnSpc>
                <a:spcPts val="1450"/>
              </a:lnSpc>
              <a:spcBef>
                <a:spcPts val="120"/>
              </a:spcBef>
            </a:pPr>
            <a:r>
              <a:rPr sz="1400" dirty="0">
                <a:latin typeface="Times New Roman"/>
                <a:cs typeface="Times New Roman"/>
              </a:rPr>
              <a:t>fraudulent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transactions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 on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historical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transactional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customers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pool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merchants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2063" y="1333500"/>
            <a:ext cx="11366500" cy="1816735"/>
          </a:xfrm>
          <a:custGeom>
            <a:avLst/>
            <a:gdLst/>
            <a:ahLst/>
            <a:cxnLst/>
            <a:rect l="l" t="t" r="r" b="b"/>
            <a:pathLst>
              <a:path w="11366500" h="1816735">
                <a:moveTo>
                  <a:pt x="11184382" y="0"/>
                </a:moveTo>
                <a:lnTo>
                  <a:pt x="181660" y="0"/>
                </a:lnTo>
                <a:lnTo>
                  <a:pt x="133367" y="6485"/>
                </a:lnTo>
                <a:lnTo>
                  <a:pt x="89972" y="24788"/>
                </a:lnTo>
                <a:lnTo>
                  <a:pt x="53206" y="53181"/>
                </a:lnTo>
                <a:lnTo>
                  <a:pt x="24801" y="89934"/>
                </a:lnTo>
                <a:lnTo>
                  <a:pt x="6488" y="133320"/>
                </a:lnTo>
                <a:lnTo>
                  <a:pt x="0" y="181610"/>
                </a:lnTo>
                <a:lnTo>
                  <a:pt x="0" y="1634998"/>
                </a:lnTo>
                <a:lnTo>
                  <a:pt x="6488" y="1683287"/>
                </a:lnTo>
                <a:lnTo>
                  <a:pt x="24801" y="1726673"/>
                </a:lnTo>
                <a:lnTo>
                  <a:pt x="53206" y="1763426"/>
                </a:lnTo>
                <a:lnTo>
                  <a:pt x="89972" y="1791819"/>
                </a:lnTo>
                <a:lnTo>
                  <a:pt x="133367" y="1810122"/>
                </a:lnTo>
                <a:lnTo>
                  <a:pt x="181660" y="1816608"/>
                </a:lnTo>
                <a:lnTo>
                  <a:pt x="11184382" y="1816608"/>
                </a:lnTo>
                <a:lnTo>
                  <a:pt x="11232671" y="1810122"/>
                </a:lnTo>
                <a:lnTo>
                  <a:pt x="11276057" y="1791819"/>
                </a:lnTo>
                <a:lnTo>
                  <a:pt x="11312810" y="1763426"/>
                </a:lnTo>
                <a:lnTo>
                  <a:pt x="11341203" y="1726673"/>
                </a:lnTo>
                <a:lnTo>
                  <a:pt x="11359506" y="1683287"/>
                </a:lnTo>
                <a:lnTo>
                  <a:pt x="11365991" y="1634998"/>
                </a:lnTo>
                <a:lnTo>
                  <a:pt x="11365991" y="181610"/>
                </a:lnTo>
                <a:lnTo>
                  <a:pt x="11359506" y="133320"/>
                </a:lnTo>
                <a:lnTo>
                  <a:pt x="11341203" y="89934"/>
                </a:lnTo>
                <a:lnTo>
                  <a:pt x="11312810" y="53181"/>
                </a:lnTo>
                <a:lnTo>
                  <a:pt x="11276057" y="24788"/>
                </a:lnTo>
                <a:lnTo>
                  <a:pt x="11232671" y="6485"/>
                </a:lnTo>
                <a:lnTo>
                  <a:pt x="11184382" y="0"/>
                </a:lnTo>
                <a:close/>
              </a:path>
            </a:pathLst>
          </a:custGeom>
          <a:solidFill>
            <a:srgbClr val="CAE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2068" y="1877694"/>
            <a:ext cx="3133090" cy="6896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13030" marR="5080" indent="-100965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1.</a:t>
            </a:r>
            <a:r>
              <a:rPr sz="1600" spc="-6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chemeClr val="bg2"/>
                </a:solidFill>
                <a:latin typeface="Times New Roman"/>
                <a:cs typeface="Times New Roman"/>
              </a:rPr>
              <a:t>Work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as</a:t>
            </a:r>
            <a:r>
              <a:rPr sz="1600" spc="-2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a</a:t>
            </a:r>
            <a:r>
              <a:rPr sz="1600" spc="-3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part</a:t>
            </a:r>
            <a:r>
              <a:rPr sz="1600" spc="-2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of</a:t>
            </a:r>
            <a:r>
              <a:rPr sz="1600" spc="-4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analytics</a:t>
            </a:r>
            <a:r>
              <a:rPr sz="1600" spc="-20" dirty="0">
                <a:solidFill>
                  <a:schemeClr val="bg2"/>
                </a:solidFill>
                <a:latin typeface="Times New Roman"/>
                <a:cs typeface="Times New Roman"/>
              </a:rPr>
              <a:t> team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working</a:t>
            </a:r>
            <a:r>
              <a:rPr sz="1600" spc="-3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on</a:t>
            </a:r>
            <a:r>
              <a:rPr sz="1600" spc="-4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a</a:t>
            </a:r>
            <a:r>
              <a:rPr sz="1600" spc="-2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fraud</a:t>
            </a:r>
            <a:r>
              <a:rPr sz="1600" spc="-2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detection</a:t>
            </a:r>
            <a:r>
              <a:rPr sz="1600" spc="-3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chemeClr val="bg2"/>
                </a:solidFill>
                <a:latin typeface="Times New Roman"/>
                <a:cs typeface="Times New Roman"/>
              </a:rPr>
              <a:t>model</a:t>
            </a:r>
            <a:endParaRPr sz="1600" dirty="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414655">
              <a:lnSpc>
                <a:spcPts val="1639"/>
              </a:lnSpc>
            </a:pP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and</a:t>
            </a:r>
            <a:r>
              <a:rPr sz="1600" spc="-3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its</a:t>
            </a:r>
            <a:r>
              <a:rPr sz="1600" spc="-3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2"/>
                </a:solidFill>
                <a:latin typeface="Times New Roman"/>
                <a:cs typeface="Times New Roman"/>
              </a:rPr>
              <a:t>cost-</a:t>
            </a:r>
            <a:r>
              <a:rPr sz="1600" dirty="0">
                <a:solidFill>
                  <a:schemeClr val="bg2"/>
                </a:solidFill>
                <a:latin typeface="Times New Roman"/>
                <a:cs typeface="Times New Roman"/>
              </a:rPr>
              <a:t>benefit</a:t>
            </a:r>
            <a:r>
              <a:rPr sz="1600" spc="-35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2"/>
                </a:solidFill>
                <a:latin typeface="Times New Roman"/>
                <a:cs typeface="Times New Roman"/>
              </a:rPr>
              <a:t>analysis.</a:t>
            </a:r>
            <a:endParaRPr sz="1600" dirty="0">
              <a:solidFill>
                <a:schemeClr val="bg2"/>
              </a:solidFill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76671" y="1677923"/>
            <a:ext cx="4302760" cy="3542029"/>
            <a:chOff x="5376671" y="1677923"/>
            <a:chExt cx="4302760" cy="3542029"/>
          </a:xfrm>
        </p:grpSpPr>
        <p:sp>
          <p:nvSpPr>
            <p:cNvPr id="6" name="object 6"/>
            <p:cNvSpPr/>
            <p:nvPr/>
          </p:nvSpPr>
          <p:spPr>
            <a:xfrm>
              <a:off x="5384291" y="1685543"/>
              <a:ext cx="4287520" cy="3526790"/>
            </a:xfrm>
            <a:custGeom>
              <a:avLst/>
              <a:gdLst/>
              <a:ahLst/>
              <a:cxnLst/>
              <a:rect l="l" t="t" r="r" b="b"/>
              <a:pathLst>
                <a:path w="4287520" h="3526790">
                  <a:moveTo>
                    <a:pt x="3934333" y="0"/>
                  </a:moveTo>
                  <a:lnTo>
                    <a:pt x="352679" y="0"/>
                  </a:lnTo>
                  <a:lnTo>
                    <a:pt x="304814" y="3218"/>
                  </a:lnTo>
                  <a:lnTo>
                    <a:pt x="258909" y="12595"/>
                  </a:lnTo>
                  <a:lnTo>
                    <a:pt x="215384" y="27709"/>
                  </a:lnTo>
                  <a:lnTo>
                    <a:pt x="174657" y="48142"/>
                  </a:lnTo>
                  <a:lnTo>
                    <a:pt x="137150" y="73473"/>
                  </a:lnTo>
                  <a:lnTo>
                    <a:pt x="103282" y="103282"/>
                  </a:lnTo>
                  <a:lnTo>
                    <a:pt x="73473" y="137150"/>
                  </a:lnTo>
                  <a:lnTo>
                    <a:pt x="48142" y="174657"/>
                  </a:lnTo>
                  <a:lnTo>
                    <a:pt x="27709" y="215384"/>
                  </a:lnTo>
                  <a:lnTo>
                    <a:pt x="12595" y="258909"/>
                  </a:lnTo>
                  <a:lnTo>
                    <a:pt x="3218" y="304814"/>
                  </a:lnTo>
                  <a:lnTo>
                    <a:pt x="0" y="352678"/>
                  </a:lnTo>
                  <a:lnTo>
                    <a:pt x="0" y="3173856"/>
                  </a:lnTo>
                  <a:lnTo>
                    <a:pt x="3218" y="3221721"/>
                  </a:lnTo>
                  <a:lnTo>
                    <a:pt x="12595" y="3267626"/>
                  </a:lnTo>
                  <a:lnTo>
                    <a:pt x="27709" y="3311151"/>
                  </a:lnTo>
                  <a:lnTo>
                    <a:pt x="48142" y="3351878"/>
                  </a:lnTo>
                  <a:lnTo>
                    <a:pt x="73473" y="3389385"/>
                  </a:lnTo>
                  <a:lnTo>
                    <a:pt x="103282" y="3423253"/>
                  </a:lnTo>
                  <a:lnTo>
                    <a:pt x="137150" y="3453062"/>
                  </a:lnTo>
                  <a:lnTo>
                    <a:pt x="174657" y="3478393"/>
                  </a:lnTo>
                  <a:lnTo>
                    <a:pt x="215384" y="3498826"/>
                  </a:lnTo>
                  <a:lnTo>
                    <a:pt x="258909" y="3513940"/>
                  </a:lnTo>
                  <a:lnTo>
                    <a:pt x="304814" y="3523317"/>
                  </a:lnTo>
                  <a:lnTo>
                    <a:pt x="352679" y="3526535"/>
                  </a:lnTo>
                  <a:lnTo>
                    <a:pt x="3934333" y="3526535"/>
                  </a:lnTo>
                  <a:lnTo>
                    <a:pt x="3982197" y="3523317"/>
                  </a:lnTo>
                  <a:lnTo>
                    <a:pt x="4028102" y="3513940"/>
                  </a:lnTo>
                  <a:lnTo>
                    <a:pt x="4071627" y="3498826"/>
                  </a:lnTo>
                  <a:lnTo>
                    <a:pt x="4112354" y="3478393"/>
                  </a:lnTo>
                  <a:lnTo>
                    <a:pt x="4149861" y="3453062"/>
                  </a:lnTo>
                  <a:lnTo>
                    <a:pt x="4183729" y="3423253"/>
                  </a:lnTo>
                  <a:lnTo>
                    <a:pt x="4213538" y="3389385"/>
                  </a:lnTo>
                  <a:lnTo>
                    <a:pt x="4238869" y="3351878"/>
                  </a:lnTo>
                  <a:lnTo>
                    <a:pt x="4259302" y="3311151"/>
                  </a:lnTo>
                  <a:lnTo>
                    <a:pt x="4274416" y="3267626"/>
                  </a:lnTo>
                  <a:lnTo>
                    <a:pt x="4283793" y="3221721"/>
                  </a:lnTo>
                  <a:lnTo>
                    <a:pt x="4287012" y="3173856"/>
                  </a:lnTo>
                  <a:lnTo>
                    <a:pt x="4287012" y="352678"/>
                  </a:lnTo>
                  <a:lnTo>
                    <a:pt x="4283793" y="304814"/>
                  </a:lnTo>
                  <a:lnTo>
                    <a:pt x="4274416" y="258909"/>
                  </a:lnTo>
                  <a:lnTo>
                    <a:pt x="4259302" y="215384"/>
                  </a:lnTo>
                  <a:lnTo>
                    <a:pt x="4238869" y="174657"/>
                  </a:lnTo>
                  <a:lnTo>
                    <a:pt x="4213538" y="137150"/>
                  </a:lnTo>
                  <a:lnTo>
                    <a:pt x="4183729" y="103282"/>
                  </a:lnTo>
                  <a:lnTo>
                    <a:pt x="4149861" y="73473"/>
                  </a:lnTo>
                  <a:lnTo>
                    <a:pt x="4112354" y="48142"/>
                  </a:lnTo>
                  <a:lnTo>
                    <a:pt x="4071627" y="27709"/>
                  </a:lnTo>
                  <a:lnTo>
                    <a:pt x="4028102" y="12595"/>
                  </a:lnTo>
                  <a:lnTo>
                    <a:pt x="3982197" y="3218"/>
                  </a:lnTo>
                  <a:lnTo>
                    <a:pt x="3934333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84291" y="1685543"/>
              <a:ext cx="4287520" cy="3526790"/>
            </a:xfrm>
            <a:custGeom>
              <a:avLst/>
              <a:gdLst/>
              <a:ahLst/>
              <a:cxnLst/>
              <a:rect l="l" t="t" r="r" b="b"/>
              <a:pathLst>
                <a:path w="4287520" h="3526790">
                  <a:moveTo>
                    <a:pt x="0" y="352678"/>
                  </a:moveTo>
                  <a:lnTo>
                    <a:pt x="3218" y="304814"/>
                  </a:lnTo>
                  <a:lnTo>
                    <a:pt x="12595" y="258909"/>
                  </a:lnTo>
                  <a:lnTo>
                    <a:pt x="27709" y="215384"/>
                  </a:lnTo>
                  <a:lnTo>
                    <a:pt x="48142" y="174657"/>
                  </a:lnTo>
                  <a:lnTo>
                    <a:pt x="73473" y="137150"/>
                  </a:lnTo>
                  <a:lnTo>
                    <a:pt x="103282" y="103282"/>
                  </a:lnTo>
                  <a:lnTo>
                    <a:pt x="137150" y="73473"/>
                  </a:lnTo>
                  <a:lnTo>
                    <a:pt x="174657" y="48142"/>
                  </a:lnTo>
                  <a:lnTo>
                    <a:pt x="215384" y="27709"/>
                  </a:lnTo>
                  <a:lnTo>
                    <a:pt x="258909" y="12595"/>
                  </a:lnTo>
                  <a:lnTo>
                    <a:pt x="304814" y="3218"/>
                  </a:lnTo>
                  <a:lnTo>
                    <a:pt x="352679" y="0"/>
                  </a:lnTo>
                  <a:lnTo>
                    <a:pt x="3934333" y="0"/>
                  </a:lnTo>
                  <a:lnTo>
                    <a:pt x="3982197" y="3218"/>
                  </a:lnTo>
                  <a:lnTo>
                    <a:pt x="4028102" y="12595"/>
                  </a:lnTo>
                  <a:lnTo>
                    <a:pt x="4071627" y="27709"/>
                  </a:lnTo>
                  <a:lnTo>
                    <a:pt x="4112354" y="48142"/>
                  </a:lnTo>
                  <a:lnTo>
                    <a:pt x="4149861" y="73473"/>
                  </a:lnTo>
                  <a:lnTo>
                    <a:pt x="4183729" y="103282"/>
                  </a:lnTo>
                  <a:lnTo>
                    <a:pt x="4213538" y="137150"/>
                  </a:lnTo>
                  <a:lnTo>
                    <a:pt x="4238869" y="174657"/>
                  </a:lnTo>
                  <a:lnTo>
                    <a:pt x="4259302" y="215384"/>
                  </a:lnTo>
                  <a:lnTo>
                    <a:pt x="4274416" y="258909"/>
                  </a:lnTo>
                  <a:lnTo>
                    <a:pt x="4283793" y="304814"/>
                  </a:lnTo>
                  <a:lnTo>
                    <a:pt x="4287012" y="352678"/>
                  </a:lnTo>
                  <a:lnTo>
                    <a:pt x="4287012" y="3173856"/>
                  </a:lnTo>
                  <a:lnTo>
                    <a:pt x="4283793" y="3221721"/>
                  </a:lnTo>
                  <a:lnTo>
                    <a:pt x="4274416" y="3267626"/>
                  </a:lnTo>
                  <a:lnTo>
                    <a:pt x="4259302" y="3311151"/>
                  </a:lnTo>
                  <a:lnTo>
                    <a:pt x="4238869" y="3351878"/>
                  </a:lnTo>
                  <a:lnTo>
                    <a:pt x="4213538" y="3389385"/>
                  </a:lnTo>
                  <a:lnTo>
                    <a:pt x="4183729" y="3423253"/>
                  </a:lnTo>
                  <a:lnTo>
                    <a:pt x="4149861" y="3453062"/>
                  </a:lnTo>
                  <a:lnTo>
                    <a:pt x="4112354" y="3478393"/>
                  </a:lnTo>
                  <a:lnTo>
                    <a:pt x="4071627" y="3498826"/>
                  </a:lnTo>
                  <a:lnTo>
                    <a:pt x="4028102" y="3513940"/>
                  </a:lnTo>
                  <a:lnTo>
                    <a:pt x="3982197" y="3523317"/>
                  </a:lnTo>
                  <a:lnTo>
                    <a:pt x="3934333" y="3526535"/>
                  </a:lnTo>
                  <a:lnTo>
                    <a:pt x="352679" y="3526535"/>
                  </a:lnTo>
                  <a:lnTo>
                    <a:pt x="304814" y="3523317"/>
                  </a:lnTo>
                  <a:lnTo>
                    <a:pt x="258909" y="3513940"/>
                  </a:lnTo>
                  <a:lnTo>
                    <a:pt x="215384" y="3498826"/>
                  </a:lnTo>
                  <a:lnTo>
                    <a:pt x="174657" y="3478393"/>
                  </a:lnTo>
                  <a:lnTo>
                    <a:pt x="137150" y="3453062"/>
                  </a:lnTo>
                  <a:lnTo>
                    <a:pt x="103282" y="3423253"/>
                  </a:lnTo>
                  <a:lnTo>
                    <a:pt x="73473" y="3389385"/>
                  </a:lnTo>
                  <a:lnTo>
                    <a:pt x="48142" y="3351878"/>
                  </a:lnTo>
                  <a:lnTo>
                    <a:pt x="27709" y="3311151"/>
                  </a:lnTo>
                  <a:lnTo>
                    <a:pt x="12595" y="3267626"/>
                  </a:lnTo>
                  <a:lnTo>
                    <a:pt x="3218" y="3221721"/>
                  </a:lnTo>
                  <a:lnTo>
                    <a:pt x="0" y="3173856"/>
                  </a:lnTo>
                  <a:lnTo>
                    <a:pt x="0" y="35267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56579" y="2310511"/>
            <a:ext cx="3742054" cy="25276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 algn="ctr">
              <a:lnSpc>
                <a:spcPct val="86700"/>
              </a:lnSpc>
              <a:spcBef>
                <a:spcPts val="710"/>
              </a:spcBef>
            </a:pPr>
            <a:r>
              <a:rPr sz="3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O</a:t>
            </a:r>
            <a:r>
              <a:rPr lang="en-US" sz="3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BJECTIVE</a:t>
            </a:r>
            <a:r>
              <a:rPr sz="3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Analyze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recommend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optimal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ways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 bank can adopt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mitigate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risks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6DED531-1892-3180-086D-CD7C9096BDA6}"/>
              </a:ext>
            </a:extLst>
          </p:cNvPr>
          <p:cNvSpPr txBox="1">
            <a:spLocks/>
          </p:cNvSpPr>
          <p:nvPr/>
        </p:nvSpPr>
        <p:spPr>
          <a:xfrm>
            <a:off x="4618989" y="245827"/>
            <a:ext cx="207517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GOALS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37540" y="2209800"/>
            <a:ext cx="4820920" cy="1893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00C5BA"/>
              </a:buClr>
              <a:buAutoNum type="arabicPeriod"/>
              <a:tabLst>
                <a:tab pos="469265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Fraud_data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9651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endParaRPr sz="2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(0.521%)</a:t>
            </a:r>
            <a:endParaRPr sz="2800" dirty="0">
              <a:latin typeface="Times New Roman"/>
              <a:cs typeface="Times New Roman"/>
            </a:endParaRPr>
          </a:p>
          <a:p>
            <a:pPr marL="469900" marR="122555" indent="-457834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 startAt="2"/>
              <a:tabLst>
                <a:tab pos="469900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Non-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Fraud_data=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1842743 transactions(99.48% 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67400" y="1905000"/>
            <a:ext cx="5992495" cy="3371215"/>
            <a:chOff x="6111240" y="2540507"/>
            <a:chExt cx="5992495" cy="337121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1240" y="2540507"/>
              <a:ext cx="5992368" cy="33710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4580" y="2593847"/>
              <a:ext cx="5885688" cy="3264408"/>
            </a:xfrm>
            <a:prstGeom prst="rect">
              <a:avLst/>
            </a:prstGeom>
          </p:spPr>
        </p:pic>
      </p:grpSp>
      <p:sp>
        <p:nvSpPr>
          <p:cNvPr id="14" name="object 4">
            <a:extLst>
              <a:ext uri="{FF2B5EF4-FFF2-40B4-BE49-F238E27FC236}">
                <a16:creationId xmlns:a16="http://schemas.microsoft.com/office/drawing/2014/main" id="{81F13471-33DB-6E04-2669-DC859F528A42}"/>
              </a:ext>
            </a:extLst>
          </p:cNvPr>
          <p:cNvSpPr txBox="1">
            <a:spLocks/>
          </p:cNvSpPr>
          <p:nvPr/>
        </p:nvSpPr>
        <p:spPr>
          <a:xfrm>
            <a:off x="3048000" y="248257"/>
            <a:ext cx="6629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OVERVIEW OF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94739" y="320302"/>
            <a:ext cx="1020369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8410" marR="5080" indent="-1236345"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sz="3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r>
              <a:rPr sz="3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sz="3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fraud_transactions</a:t>
            </a:r>
            <a:r>
              <a:rPr sz="3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</a:t>
            </a:r>
            <a:r>
              <a:rPr lang="en-US" sz="36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6747" y="2179320"/>
            <a:ext cx="4069079" cy="6400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40677" y="2287016"/>
            <a:ext cx="3682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wise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2940" y="2298192"/>
            <a:ext cx="11305540" cy="3657600"/>
            <a:chOff x="662940" y="2298192"/>
            <a:chExt cx="11305540" cy="36576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3243" y="2702052"/>
              <a:ext cx="5824728" cy="32537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6584" y="2755392"/>
              <a:ext cx="5718048" cy="31470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940" y="2298192"/>
              <a:ext cx="4730496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55675" y="2406853"/>
            <a:ext cx="43434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No.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wise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6888" y="2702051"/>
            <a:ext cx="5712460" cy="3253740"/>
            <a:chOff x="246888" y="2702051"/>
            <a:chExt cx="5712460" cy="325374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88" y="2702051"/>
              <a:ext cx="5711952" cy="32537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0228" y="2755391"/>
              <a:ext cx="5605272" cy="314706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68858" y="6139992"/>
            <a:ext cx="1057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eve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specifically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dec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later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may,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august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october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295400" y="2286000"/>
            <a:ext cx="10040620" cy="163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685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C5BA"/>
                </a:solidFill>
                <a:latin typeface="Wingdings 2"/>
                <a:cs typeface="Wingdings 2"/>
              </a:rPr>
              <a:t></a:t>
            </a:r>
            <a:r>
              <a:rPr sz="2400" spc="-45" dirty="0">
                <a:solidFill>
                  <a:srgbClr val="00C5BA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Visual</a:t>
            </a:r>
            <a:r>
              <a:rPr sz="24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 better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understanding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based on fraud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data(1)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non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fraud data(0)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400"/>
              </a:lnSpc>
              <a:spcBef>
                <a:spcPts val="1165"/>
              </a:spcBef>
            </a:pPr>
            <a:r>
              <a:rPr sz="2400" dirty="0">
                <a:solidFill>
                  <a:srgbClr val="00C5BA"/>
                </a:solidFill>
                <a:latin typeface="Wingdings 2"/>
                <a:cs typeface="Wingdings 2"/>
              </a:rPr>
              <a:t></a:t>
            </a:r>
            <a:r>
              <a:rPr sz="2400" spc="-55" dirty="0">
                <a:solidFill>
                  <a:srgbClr val="00C5B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Plots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make you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happening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are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issued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customers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bank.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3F107E32-2F07-9A57-437C-4943568259E4}"/>
              </a:ext>
            </a:extLst>
          </p:cNvPr>
          <p:cNvSpPr txBox="1">
            <a:spLocks/>
          </p:cNvSpPr>
          <p:nvPr/>
        </p:nvSpPr>
        <p:spPr>
          <a:xfrm>
            <a:off x="4495800" y="762000"/>
            <a:ext cx="28956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97789" y="-214158"/>
            <a:ext cx="9905998" cy="1478570"/>
          </a:xfrm>
          <a:prstGeom prst="rect">
            <a:avLst/>
          </a:prstGeom>
        </p:spPr>
        <p:txBody>
          <a:bodyPr vert="horz" wrap="square" lIns="0" tIns="90754" rIns="0" bIns="0" rtlCol="0">
            <a:spAutoFit/>
          </a:bodyPr>
          <a:lstStyle/>
          <a:p>
            <a:pPr marL="846455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1.Analysis</a:t>
            </a:r>
            <a:r>
              <a:rPr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732" y="5067680"/>
            <a:ext cx="6064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3rd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5th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where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less.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5092" y="1200723"/>
            <a:ext cx="11469701" cy="3851400"/>
            <a:chOff x="356615" y="909827"/>
            <a:chExt cx="11608435" cy="399287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615" y="909827"/>
              <a:ext cx="5739384" cy="39928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4307" y="909828"/>
              <a:ext cx="5690616" cy="39928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703568" y="4988433"/>
            <a:ext cx="501586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Nearly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355" y="5548071"/>
            <a:ext cx="5799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Sunday,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Saturday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Monday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compared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15" y="1229867"/>
            <a:ext cx="5861304" cy="4154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4911" y="1229867"/>
            <a:ext cx="5362956" cy="41544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25793" y="5624271"/>
            <a:ext cx="501332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Nearly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were done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Weekday.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56787" y="111527"/>
            <a:ext cx="864108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Times New Roman"/>
                <a:cs typeface="Times New Roman"/>
              </a:rPr>
              <a:t>Anal</a:t>
            </a:r>
            <a:r>
              <a:rPr lang="en-US" sz="3200" b="0" dirty="0" err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3200" b="0" dirty="0" err="1">
                <a:solidFill>
                  <a:srgbClr val="FFFFFF"/>
                </a:solidFill>
                <a:latin typeface="Times New Roman"/>
                <a:cs typeface="Times New Roman"/>
              </a:rPr>
              <a:t>sis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Weekdays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0446" y="5475223"/>
            <a:ext cx="5574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same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4340" y="1234903"/>
            <a:ext cx="11626660" cy="4194236"/>
            <a:chOff x="234696" y="979743"/>
            <a:chExt cx="11626660" cy="4194236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5768" y="979743"/>
              <a:ext cx="5335588" cy="41942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696" y="1005840"/>
              <a:ext cx="6056376" cy="416813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6367" y="5431637"/>
            <a:ext cx="5180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20th,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12th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11th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month.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43001" y="-243667"/>
            <a:ext cx="9905998" cy="1478570"/>
          </a:xfrm>
          <a:prstGeom prst="rect">
            <a:avLst/>
          </a:prstGeom>
        </p:spPr>
        <p:txBody>
          <a:bodyPr vert="horz" wrap="square" lIns="0" tIns="223646" rIns="0" bIns="0" rtlCol="0">
            <a:spAutoFit/>
          </a:bodyPr>
          <a:lstStyle/>
          <a:p>
            <a:pPr marL="1781175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sz="3200" b="0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Days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355" y="5480100"/>
            <a:ext cx="5130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odd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i.e.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22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Hr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2441" y="1174972"/>
            <a:ext cx="11464203" cy="4305128"/>
            <a:chOff x="284987" y="1118615"/>
            <a:chExt cx="11474196" cy="419557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987" y="1118615"/>
              <a:ext cx="5932932" cy="4195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2615" y="1118615"/>
              <a:ext cx="5306568" cy="419557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625590" y="5480100"/>
            <a:ext cx="4713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mostly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23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Hr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318768" y="-228600"/>
            <a:ext cx="10613643" cy="1261576"/>
          </a:xfrm>
          <a:prstGeom prst="rect">
            <a:avLst/>
          </a:prstGeom>
        </p:spPr>
        <p:txBody>
          <a:bodyPr vert="horz" wrap="square" lIns="0" tIns="274015" rIns="0" bIns="0" rtlCol="0">
            <a:spAutoFit/>
          </a:bodyPr>
          <a:lstStyle/>
          <a:p>
            <a:pPr marL="172847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lang="en-US"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2138" y="1182254"/>
            <a:ext cx="11507724" cy="3755136"/>
            <a:chOff x="345948" y="990599"/>
            <a:chExt cx="11507724" cy="375513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948" y="990599"/>
              <a:ext cx="5839967" cy="37551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00" y="1063752"/>
              <a:ext cx="5693664" cy="36088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194" y="1053846"/>
              <a:ext cx="5713730" cy="3629025"/>
            </a:xfrm>
            <a:custGeom>
              <a:avLst/>
              <a:gdLst/>
              <a:ahLst/>
              <a:cxnLst/>
              <a:rect l="l" t="t" r="r" b="b"/>
              <a:pathLst>
                <a:path w="5713730" h="3629025">
                  <a:moveTo>
                    <a:pt x="0" y="3628644"/>
                  </a:moveTo>
                  <a:lnTo>
                    <a:pt x="5713476" y="3628644"/>
                  </a:lnTo>
                  <a:lnTo>
                    <a:pt x="5713476" y="0"/>
                  </a:lnTo>
                  <a:lnTo>
                    <a:pt x="0" y="0"/>
                  </a:lnTo>
                  <a:lnTo>
                    <a:pt x="0" y="3628644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8440" y="1063752"/>
              <a:ext cx="5285232" cy="36530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97535" y="4968620"/>
            <a:ext cx="544004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noticed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50-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30-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40,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6310" y="4974082"/>
            <a:ext cx="47136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belongs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holders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"0-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20",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"60-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70"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"70-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80"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bin.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29106" y="-286077"/>
            <a:ext cx="9905998" cy="1478570"/>
          </a:xfrm>
          <a:prstGeom prst="rect">
            <a:avLst/>
          </a:prstGeom>
        </p:spPr>
        <p:txBody>
          <a:bodyPr vert="horz" wrap="square" lIns="0" tIns="274827" rIns="0" bIns="0" rtlCol="0">
            <a:spAutoFit/>
          </a:bodyPr>
          <a:lstStyle/>
          <a:p>
            <a:pPr marL="65913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 different</a:t>
            </a:r>
            <a:r>
              <a:rPr sz="3200" b="0" spc="-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Age_bins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1335624"/>
            <a:ext cx="10760291" cy="3429000"/>
            <a:chOff x="224028" y="786383"/>
            <a:chExt cx="11785092" cy="380542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0696" y="786383"/>
              <a:ext cx="5678424" cy="38054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4035" y="839724"/>
              <a:ext cx="5571744" cy="36987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028" y="839724"/>
              <a:ext cx="5852160" cy="369874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24858" y="4911090"/>
            <a:ext cx="596519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grocery_pos,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shopping_net,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misc_net,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shopping_pos,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gas_transport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61784" y="4911090"/>
            <a:ext cx="483362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were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shopping_net,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shopping_pos,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misc_net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category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entertainment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D286D17F-27D6-68F6-A90B-98E9FB6550B9}"/>
              </a:ext>
            </a:extLst>
          </p:cNvPr>
          <p:cNvSpPr txBox="1">
            <a:spLocks/>
          </p:cNvSpPr>
          <p:nvPr/>
        </p:nvSpPr>
        <p:spPr>
          <a:xfrm>
            <a:off x="1439289" y="154810"/>
            <a:ext cx="10056115" cy="99835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6.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lang="en-US" sz="3200" b="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lang="en-US"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lang="en-US"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lang="en-US"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lang="en-US" sz="3200" b="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lang="en-US"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lang="en-US"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endParaRPr lang="en-US"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81545" y="1481327"/>
            <a:ext cx="5052059" cy="4105655"/>
            <a:chOff x="6720840" y="1427988"/>
            <a:chExt cx="5052059" cy="4105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0840" y="1427988"/>
              <a:ext cx="5052059" cy="41056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4179" y="1481327"/>
              <a:ext cx="4945380" cy="399897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3039" y="5619089"/>
            <a:ext cx="639572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Engineer,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officer,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others,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scientist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1355" y="1481327"/>
            <a:ext cx="6330696" cy="39883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81545" y="5611469"/>
            <a:ext cx="52120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were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under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holders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Researcher, Assistant.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1B9EEB93-2B6F-7997-6C0F-AA13640411B4}"/>
              </a:ext>
            </a:extLst>
          </p:cNvPr>
          <p:cNvSpPr txBox="1">
            <a:spLocks/>
          </p:cNvSpPr>
          <p:nvPr/>
        </p:nvSpPr>
        <p:spPr>
          <a:xfrm>
            <a:off x="2593085" y="152534"/>
            <a:ext cx="8376920" cy="99835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spc="-190" dirty="0">
                <a:solidFill>
                  <a:srgbClr val="FFFFFF"/>
                </a:solidFill>
                <a:latin typeface="Times New Roman"/>
                <a:cs typeface="Times New Roman"/>
              </a:rPr>
              <a:t>7. 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lang="en-US" sz="3200" b="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lang="en-US"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lang="en-US"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lang="en-US"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lang="en-US" sz="3200" b="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lang="en-US"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lang="en-US"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Jobs</a:t>
            </a:r>
            <a:endParaRPr lang="en-US"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97980" y="1758695"/>
            <a:ext cx="5032375" cy="3776979"/>
            <a:chOff x="6697980" y="1758695"/>
            <a:chExt cx="5032375" cy="37769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97980" y="1758695"/>
              <a:ext cx="5032248" cy="37764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1320" y="1812035"/>
              <a:ext cx="4925568" cy="366979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42924" y="5691022"/>
            <a:ext cx="5251450" cy="5746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56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Midwest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472" y="1812035"/>
            <a:ext cx="6009132" cy="36697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25590" y="5728817"/>
            <a:ext cx="4963795" cy="7943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1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 in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all 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regions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Northeast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region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slightly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others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fraud transactions.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971800" y="11291"/>
            <a:ext cx="837692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8.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Times New Roman"/>
                <a:cs typeface="Times New Roman"/>
              </a:rPr>
              <a:t>Fr</a:t>
            </a:r>
            <a:r>
              <a:rPr lang="en-US" sz="3200" b="0" dirty="0" err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b="0" dirty="0" err="1">
                <a:solidFill>
                  <a:srgbClr val="FFFFFF"/>
                </a:solidFill>
                <a:latin typeface="Times New Roman"/>
                <a:cs typeface="Times New Roman"/>
              </a:rPr>
              <a:t>ud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1274" y="1074272"/>
            <a:ext cx="3886200" cy="6085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State_bin(Regio</a:t>
            </a:r>
            <a:r>
              <a:rPr lang="en-US"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wise)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419100" y="3112007"/>
            <a:ext cx="2165985" cy="1304925"/>
            <a:chOff x="419100" y="3112007"/>
            <a:chExt cx="2165985" cy="1304925"/>
          </a:xfrm>
        </p:grpSpPr>
        <p:sp>
          <p:nvSpPr>
            <p:cNvPr id="8" name="object 8"/>
            <p:cNvSpPr/>
            <p:nvPr/>
          </p:nvSpPr>
          <p:spPr>
            <a:xfrm>
              <a:off x="426720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2021459" y="0"/>
                  </a:moveTo>
                  <a:lnTo>
                    <a:pt x="128930" y="0"/>
                  </a:lnTo>
                  <a:lnTo>
                    <a:pt x="78743" y="10140"/>
                  </a:lnTo>
                  <a:lnTo>
                    <a:pt x="37761" y="37782"/>
                  </a:lnTo>
                  <a:lnTo>
                    <a:pt x="10131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31" y="1210544"/>
                  </a:lnTo>
                  <a:lnTo>
                    <a:pt x="37761" y="1251521"/>
                  </a:lnTo>
                  <a:lnTo>
                    <a:pt x="78743" y="1279163"/>
                  </a:lnTo>
                  <a:lnTo>
                    <a:pt x="128930" y="1289304"/>
                  </a:lnTo>
                  <a:lnTo>
                    <a:pt x="2021459" y="1289304"/>
                  </a:lnTo>
                  <a:lnTo>
                    <a:pt x="2071604" y="1279163"/>
                  </a:lnTo>
                  <a:lnTo>
                    <a:pt x="2112581" y="1251521"/>
                  </a:lnTo>
                  <a:lnTo>
                    <a:pt x="2140223" y="1210544"/>
                  </a:lnTo>
                  <a:lnTo>
                    <a:pt x="2150364" y="1160399"/>
                  </a:lnTo>
                  <a:lnTo>
                    <a:pt x="2150364" y="128905"/>
                  </a:lnTo>
                  <a:lnTo>
                    <a:pt x="2140223" y="78759"/>
                  </a:lnTo>
                  <a:lnTo>
                    <a:pt x="2112581" y="37782"/>
                  </a:lnTo>
                  <a:lnTo>
                    <a:pt x="2071604" y="10140"/>
                  </a:lnTo>
                  <a:lnTo>
                    <a:pt x="2021459" y="0"/>
                  </a:lnTo>
                  <a:close/>
                </a:path>
              </a:pathLst>
            </a:custGeom>
            <a:solidFill>
              <a:srgbClr val="6EEB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6720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0" y="128905"/>
                  </a:moveTo>
                  <a:lnTo>
                    <a:pt x="10131" y="78759"/>
                  </a:lnTo>
                  <a:lnTo>
                    <a:pt x="37761" y="37782"/>
                  </a:lnTo>
                  <a:lnTo>
                    <a:pt x="78743" y="10140"/>
                  </a:lnTo>
                  <a:lnTo>
                    <a:pt x="128930" y="0"/>
                  </a:lnTo>
                  <a:lnTo>
                    <a:pt x="2021459" y="0"/>
                  </a:lnTo>
                  <a:lnTo>
                    <a:pt x="2071604" y="10140"/>
                  </a:lnTo>
                  <a:lnTo>
                    <a:pt x="2112581" y="37782"/>
                  </a:lnTo>
                  <a:lnTo>
                    <a:pt x="2140223" y="78759"/>
                  </a:lnTo>
                  <a:lnTo>
                    <a:pt x="2150364" y="128905"/>
                  </a:lnTo>
                  <a:lnTo>
                    <a:pt x="2150364" y="1160399"/>
                  </a:lnTo>
                  <a:lnTo>
                    <a:pt x="2140223" y="1210544"/>
                  </a:lnTo>
                  <a:lnTo>
                    <a:pt x="2112581" y="1251521"/>
                  </a:lnTo>
                  <a:lnTo>
                    <a:pt x="2071604" y="1279163"/>
                  </a:lnTo>
                  <a:lnTo>
                    <a:pt x="2021459" y="1289304"/>
                  </a:lnTo>
                  <a:lnTo>
                    <a:pt x="128930" y="1289304"/>
                  </a:lnTo>
                  <a:lnTo>
                    <a:pt x="78743" y="1279163"/>
                  </a:lnTo>
                  <a:lnTo>
                    <a:pt x="37761" y="1251521"/>
                  </a:lnTo>
                  <a:lnTo>
                    <a:pt x="10131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8015" y="3536060"/>
            <a:ext cx="1946910" cy="4222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803275" marR="5080" indent="-791210">
              <a:lnSpc>
                <a:spcPts val="1440"/>
              </a:lnSpc>
              <a:spcBef>
                <a:spcPts val="350"/>
              </a:spcBef>
            </a:pPr>
            <a:r>
              <a:rPr sz="1400" b="1" dirty="0">
                <a:latin typeface="Times New Roman"/>
                <a:cs typeface="Times New Roman"/>
              </a:rPr>
              <a:t>Read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understand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the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66060" y="3497579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30" h="533400">
                <a:moveTo>
                  <a:pt x="227837" y="0"/>
                </a:moveTo>
                <a:lnTo>
                  <a:pt x="227837" y="106680"/>
                </a:lnTo>
                <a:lnTo>
                  <a:pt x="0" y="106680"/>
                </a:lnTo>
                <a:lnTo>
                  <a:pt x="0" y="426720"/>
                </a:lnTo>
                <a:lnTo>
                  <a:pt x="227837" y="426720"/>
                </a:lnTo>
                <a:lnTo>
                  <a:pt x="227837" y="533400"/>
                </a:lnTo>
                <a:lnTo>
                  <a:pt x="455675" y="266700"/>
                </a:lnTo>
                <a:lnTo>
                  <a:pt x="227837" y="0"/>
                </a:lnTo>
                <a:close/>
              </a:path>
            </a:pathLst>
          </a:custGeom>
          <a:solidFill>
            <a:srgbClr val="6EEB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429000" y="3112007"/>
            <a:ext cx="2164080" cy="1304925"/>
            <a:chOff x="3429000" y="3112007"/>
            <a:chExt cx="2164080" cy="1304925"/>
          </a:xfrm>
        </p:grpSpPr>
        <p:sp>
          <p:nvSpPr>
            <p:cNvPr id="13" name="object 13"/>
            <p:cNvSpPr/>
            <p:nvPr/>
          </p:nvSpPr>
          <p:spPr>
            <a:xfrm>
              <a:off x="34366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2019934" y="0"/>
                  </a:moveTo>
                  <a:lnTo>
                    <a:pt x="128904" y="0"/>
                  </a:lnTo>
                  <a:lnTo>
                    <a:pt x="78759" y="10140"/>
                  </a:lnTo>
                  <a:lnTo>
                    <a:pt x="37782" y="37782"/>
                  </a:lnTo>
                  <a:lnTo>
                    <a:pt x="10140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40" y="1210544"/>
                  </a:lnTo>
                  <a:lnTo>
                    <a:pt x="37782" y="1251521"/>
                  </a:lnTo>
                  <a:lnTo>
                    <a:pt x="78759" y="1279163"/>
                  </a:lnTo>
                  <a:lnTo>
                    <a:pt x="128904" y="1289304"/>
                  </a:lnTo>
                  <a:lnTo>
                    <a:pt x="2019934" y="1289304"/>
                  </a:lnTo>
                  <a:lnTo>
                    <a:pt x="2070080" y="1279163"/>
                  </a:lnTo>
                  <a:lnTo>
                    <a:pt x="2111057" y="1251521"/>
                  </a:lnTo>
                  <a:lnTo>
                    <a:pt x="2138699" y="1210544"/>
                  </a:lnTo>
                  <a:lnTo>
                    <a:pt x="2148840" y="1160399"/>
                  </a:lnTo>
                  <a:lnTo>
                    <a:pt x="2148840" y="128905"/>
                  </a:lnTo>
                  <a:lnTo>
                    <a:pt x="2138699" y="78759"/>
                  </a:lnTo>
                  <a:lnTo>
                    <a:pt x="2111057" y="37782"/>
                  </a:lnTo>
                  <a:lnTo>
                    <a:pt x="2070080" y="10140"/>
                  </a:lnTo>
                  <a:lnTo>
                    <a:pt x="2019934" y="0"/>
                  </a:lnTo>
                  <a:close/>
                </a:path>
              </a:pathLst>
            </a:custGeom>
            <a:solidFill>
              <a:srgbClr val="B6D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366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0" y="128905"/>
                  </a:moveTo>
                  <a:lnTo>
                    <a:pt x="10140" y="78759"/>
                  </a:lnTo>
                  <a:lnTo>
                    <a:pt x="37782" y="37782"/>
                  </a:lnTo>
                  <a:lnTo>
                    <a:pt x="78759" y="10140"/>
                  </a:lnTo>
                  <a:lnTo>
                    <a:pt x="128904" y="0"/>
                  </a:lnTo>
                  <a:lnTo>
                    <a:pt x="2019934" y="0"/>
                  </a:lnTo>
                  <a:lnTo>
                    <a:pt x="2070080" y="10140"/>
                  </a:lnTo>
                  <a:lnTo>
                    <a:pt x="2111057" y="37782"/>
                  </a:lnTo>
                  <a:lnTo>
                    <a:pt x="2138699" y="78759"/>
                  </a:lnTo>
                  <a:lnTo>
                    <a:pt x="2148840" y="128905"/>
                  </a:lnTo>
                  <a:lnTo>
                    <a:pt x="2148840" y="1160399"/>
                  </a:lnTo>
                  <a:lnTo>
                    <a:pt x="2138699" y="1210544"/>
                  </a:lnTo>
                  <a:lnTo>
                    <a:pt x="2111057" y="1251521"/>
                  </a:lnTo>
                  <a:lnTo>
                    <a:pt x="2070080" y="1279163"/>
                  </a:lnTo>
                  <a:lnTo>
                    <a:pt x="2019934" y="1289304"/>
                  </a:lnTo>
                  <a:lnTo>
                    <a:pt x="128904" y="1289304"/>
                  </a:lnTo>
                  <a:lnTo>
                    <a:pt x="78759" y="1279163"/>
                  </a:lnTo>
                  <a:lnTo>
                    <a:pt x="37782" y="1251521"/>
                  </a:lnTo>
                  <a:lnTo>
                    <a:pt x="10140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55567" y="3536060"/>
            <a:ext cx="1711325" cy="4222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35890" marR="5080" indent="-123825">
              <a:lnSpc>
                <a:spcPts val="1440"/>
              </a:lnSpc>
              <a:spcBef>
                <a:spcPts val="350"/>
              </a:spcBef>
            </a:pPr>
            <a:r>
              <a:rPr sz="1400" b="1" dirty="0">
                <a:latin typeface="Times New Roman"/>
                <a:cs typeface="Times New Roman"/>
              </a:rPr>
              <a:t>Merge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two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dataset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Clean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75959" y="3497579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227837" y="106680"/>
                </a:lnTo>
                <a:lnTo>
                  <a:pt x="0" y="106680"/>
                </a:lnTo>
                <a:lnTo>
                  <a:pt x="0" y="426720"/>
                </a:lnTo>
                <a:lnTo>
                  <a:pt x="227837" y="426720"/>
                </a:lnTo>
                <a:lnTo>
                  <a:pt x="227837" y="533400"/>
                </a:lnTo>
                <a:lnTo>
                  <a:pt x="455675" y="266700"/>
                </a:lnTo>
                <a:lnTo>
                  <a:pt x="227837" y="0"/>
                </a:lnTo>
                <a:close/>
              </a:path>
            </a:pathLst>
          </a:custGeom>
          <a:solidFill>
            <a:srgbClr val="B6D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6438900" y="3112007"/>
            <a:ext cx="2164080" cy="1304925"/>
            <a:chOff x="6438900" y="3112007"/>
            <a:chExt cx="2164080" cy="1304925"/>
          </a:xfrm>
        </p:grpSpPr>
        <p:sp>
          <p:nvSpPr>
            <p:cNvPr id="18" name="object 18"/>
            <p:cNvSpPr/>
            <p:nvPr/>
          </p:nvSpPr>
          <p:spPr>
            <a:xfrm>
              <a:off x="64465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2019934" y="0"/>
                  </a:moveTo>
                  <a:lnTo>
                    <a:pt x="128904" y="0"/>
                  </a:lnTo>
                  <a:lnTo>
                    <a:pt x="78759" y="10140"/>
                  </a:lnTo>
                  <a:lnTo>
                    <a:pt x="37782" y="37782"/>
                  </a:lnTo>
                  <a:lnTo>
                    <a:pt x="10140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40" y="1210544"/>
                  </a:lnTo>
                  <a:lnTo>
                    <a:pt x="37782" y="1251521"/>
                  </a:lnTo>
                  <a:lnTo>
                    <a:pt x="78759" y="1279163"/>
                  </a:lnTo>
                  <a:lnTo>
                    <a:pt x="128904" y="1289304"/>
                  </a:lnTo>
                  <a:lnTo>
                    <a:pt x="2019934" y="1289304"/>
                  </a:lnTo>
                  <a:lnTo>
                    <a:pt x="2070080" y="1279163"/>
                  </a:lnTo>
                  <a:lnTo>
                    <a:pt x="2111057" y="1251521"/>
                  </a:lnTo>
                  <a:lnTo>
                    <a:pt x="2138699" y="1210544"/>
                  </a:lnTo>
                  <a:lnTo>
                    <a:pt x="2148839" y="1160399"/>
                  </a:lnTo>
                  <a:lnTo>
                    <a:pt x="2148839" y="128905"/>
                  </a:lnTo>
                  <a:lnTo>
                    <a:pt x="2138699" y="78759"/>
                  </a:lnTo>
                  <a:lnTo>
                    <a:pt x="2111057" y="37782"/>
                  </a:lnTo>
                  <a:lnTo>
                    <a:pt x="2070080" y="10140"/>
                  </a:lnTo>
                  <a:lnTo>
                    <a:pt x="2019934" y="0"/>
                  </a:lnTo>
                  <a:close/>
                </a:path>
              </a:pathLst>
            </a:custGeom>
            <a:solidFill>
              <a:srgbClr val="EEB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465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0" y="128905"/>
                  </a:moveTo>
                  <a:lnTo>
                    <a:pt x="10140" y="78759"/>
                  </a:lnTo>
                  <a:lnTo>
                    <a:pt x="37782" y="37782"/>
                  </a:lnTo>
                  <a:lnTo>
                    <a:pt x="78759" y="10140"/>
                  </a:lnTo>
                  <a:lnTo>
                    <a:pt x="128904" y="0"/>
                  </a:lnTo>
                  <a:lnTo>
                    <a:pt x="2019934" y="0"/>
                  </a:lnTo>
                  <a:lnTo>
                    <a:pt x="2070080" y="10140"/>
                  </a:lnTo>
                  <a:lnTo>
                    <a:pt x="2111057" y="37782"/>
                  </a:lnTo>
                  <a:lnTo>
                    <a:pt x="2138699" y="78759"/>
                  </a:lnTo>
                  <a:lnTo>
                    <a:pt x="2148839" y="128905"/>
                  </a:lnTo>
                  <a:lnTo>
                    <a:pt x="2148839" y="1160399"/>
                  </a:lnTo>
                  <a:lnTo>
                    <a:pt x="2138699" y="1210544"/>
                  </a:lnTo>
                  <a:lnTo>
                    <a:pt x="2111057" y="1251521"/>
                  </a:lnTo>
                  <a:lnTo>
                    <a:pt x="2070080" y="1279163"/>
                  </a:lnTo>
                  <a:lnTo>
                    <a:pt x="2019934" y="1289304"/>
                  </a:lnTo>
                  <a:lnTo>
                    <a:pt x="128904" y="1289304"/>
                  </a:lnTo>
                  <a:lnTo>
                    <a:pt x="78759" y="1279163"/>
                  </a:lnTo>
                  <a:lnTo>
                    <a:pt x="37782" y="1251521"/>
                  </a:lnTo>
                  <a:lnTo>
                    <a:pt x="10140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24904" y="3628135"/>
            <a:ext cx="1590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Visualization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784335" y="3497579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8" y="0"/>
                </a:moveTo>
                <a:lnTo>
                  <a:pt x="227838" y="106680"/>
                </a:lnTo>
                <a:lnTo>
                  <a:pt x="0" y="106680"/>
                </a:lnTo>
                <a:lnTo>
                  <a:pt x="0" y="426720"/>
                </a:lnTo>
                <a:lnTo>
                  <a:pt x="227838" y="426720"/>
                </a:lnTo>
                <a:lnTo>
                  <a:pt x="227838" y="533400"/>
                </a:lnTo>
                <a:lnTo>
                  <a:pt x="455675" y="266700"/>
                </a:lnTo>
                <a:lnTo>
                  <a:pt x="227838" y="0"/>
                </a:lnTo>
                <a:close/>
              </a:path>
            </a:pathLst>
          </a:custGeom>
          <a:solidFill>
            <a:srgbClr val="EEB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9447276" y="3112007"/>
            <a:ext cx="2165985" cy="1304925"/>
            <a:chOff x="9447276" y="3112007"/>
            <a:chExt cx="2165985" cy="1304925"/>
          </a:xfrm>
        </p:grpSpPr>
        <p:sp>
          <p:nvSpPr>
            <p:cNvPr id="23" name="object 23"/>
            <p:cNvSpPr/>
            <p:nvPr/>
          </p:nvSpPr>
          <p:spPr>
            <a:xfrm>
              <a:off x="9454896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2021458" y="0"/>
                  </a:moveTo>
                  <a:lnTo>
                    <a:pt x="128904" y="0"/>
                  </a:lnTo>
                  <a:lnTo>
                    <a:pt x="78759" y="10140"/>
                  </a:lnTo>
                  <a:lnTo>
                    <a:pt x="37782" y="37782"/>
                  </a:lnTo>
                  <a:lnTo>
                    <a:pt x="10140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40" y="1210544"/>
                  </a:lnTo>
                  <a:lnTo>
                    <a:pt x="37782" y="1251521"/>
                  </a:lnTo>
                  <a:lnTo>
                    <a:pt x="78759" y="1279163"/>
                  </a:lnTo>
                  <a:lnTo>
                    <a:pt x="128904" y="1289304"/>
                  </a:lnTo>
                  <a:lnTo>
                    <a:pt x="2021458" y="1289304"/>
                  </a:lnTo>
                  <a:lnTo>
                    <a:pt x="2071604" y="1279163"/>
                  </a:lnTo>
                  <a:lnTo>
                    <a:pt x="2112581" y="1251521"/>
                  </a:lnTo>
                  <a:lnTo>
                    <a:pt x="2140223" y="1210544"/>
                  </a:lnTo>
                  <a:lnTo>
                    <a:pt x="2150363" y="1160399"/>
                  </a:lnTo>
                  <a:lnTo>
                    <a:pt x="2150363" y="128905"/>
                  </a:lnTo>
                  <a:lnTo>
                    <a:pt x="2140223" y="78759"/>
                  </a:lnTo>
                  <a:lnTo>
                    <a:pt x="2112581" y="37782"/>
                  </a:lnTo>
                  <a:lnTo>
                    <a:pt x="2071604" y="10140"/>
                  </a:lnTo>
                  <a:lnTo>
                    <a:pt x="2021458" y="0"/>
                  </a:lnTo>
                  <a:close/>
                </a:path>
              </a:pathLst>
            </a:custGeom>
            <a:solidFill>
              <a:srgbClr val="EE7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54896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0" y="128905"/>
                  </a:moveTo>
                  <a:lnTo>
                    <a:pt x="10140" y="78759"/>
                  </a:lnTo>
                  <a:lnTo>
                    <a:pt x="37782" y="37782"/>
                  </a:lnTo>
                  <a:lnTo>
                    <a:pt x="78759" y="10140"/>
                  </a:lnTo>
                  <a:lnTo>
                    <a:pt x="128904" y="0"/>
                  </a:lnTo>
                  <a:lnTo>
                    <a:pt x="2021458" y="0"/>
                  </a:lnTo>
                  <a:lnTo>
                    <a:pt x="2071604" y="10140"/>
                  </a:lnTo>
                  <a:lnTo>
                    <a:pt x="2112581" y="37782"/>
                  </a:lnTo>
                  <a:lnTo>
                    <a:pt x="2140223" y="78759"/>
                  </a:lnTo>
                  <a:lnTo>
                    <a:pt x="2150363" y="128905"/>
                  </a:lnTo>
                  <a:lnTo>
                    <a:pt x="2150363" y="1160399"/>
                  </a:lnTo>
                  <a:lnTo>
                    <a:pt x="2140223" y="1210544"/>
                  </a:lnTo>
                  <a:lnTo>
                    <a:pt x="2112581" y="1251521"/>
                  </a:lnTo>
                  <a:lnTo>
                    <a:pt x="2071604" y="1279163"/>
                  </a:lnTo>
                  <a:lnTo>
                    <a:pt x="2021458" y="1289304"/>
                  </a:lnTo>
                  <a:lnTo>
                    <a:pt x="128904" y="1289304"/>
                  </a:lnTo>
                  <a:lnTo>
                    <a:pt x="78759" y="1279163"/>
                  </a:lnTo>
                  <a:lnTo>
                    <a:pt x="37782" y="1251521"/>
                  </a:lnTo>
                  <a:lnTo>
                    <a:pt x="10140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735057" y="3628135"/>
            <a:ext cx="1592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Feature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264140" y="4597908"/>
            <a:ext cx="533400" cy="455930"/>
          </a:xfrm>
          <a:custGeom>
            <a:avLst/>
            <a:gdLst/>
            <a:ahLst/>
            <a:cxnLst/>
            <a:rect l="l" t="t" r="r" b="b"/>
            <a:pathLst>
              <a:path w="533400" h="455929">
                <a:moveTo>
                  <a:pt x="426719" y="0"/>
                </a:moveTo>
                <a:lnTo>
                  <a:pt x="106679" y="0"/>
                </a:lnTo>
                <a:lnTo>
                  <a:pt x="106679" y="227838"/>
                </a:lnTo>
                <a:lnTo>
                  <a:pt x="0" y="227838"/>
                </a:lnTo>
                <a:lnTo>
                  <a:pt x="266700" y="455676"/>
                </a:lnTo>
                <a:lnTo>
                  <a:pt x="533400" y="227838"/>
                </a:lnTo>
                <a:lnTo>
                  <a:pt x="426719" y="227838"/>
                </a:lnTo>
                <a:lnTo>
                  <a:pt x="426719" y="0"/>
                </a:lnTo>
                <a:close/>
              </a:path>
            </a:pathLst>
          </a:custGeom>
          <a:solidFill>
            <a:srgbClr val="EE75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9447276" y="5260847"/>
            <a:ext cx="2165985" cy="1306195"/>
            <a:chOff x="9447276" y="5260847"/>
            <a:chExt cx="2165985" cy="1306195"/>
          </a:xfrm>
        </p:grpSpPr>
        <p:sp>
          <p:nvSpPr>
            <p:cNvPr id="28" name="object 28"/>
            <p:cNvSpPr/>
            <p:nvPr/>
          </p:nvSpPr>
          <p:spPr>
            <a:xfrm>
              <a:off x="9454896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2021331" y="0"/>
                  </a:moveTo>
                  <a:lnTo>
                    <a:pt x="129031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2" y="1211987"/>
                  </a:lnTo>
                  <a:lnTo>
                    <a:pt x="37798" y="1253018"/>
                  </a:lnTo>
                  <a:lnTo>
                    <a:pt x="78813" y="1280683"/>
                  </a:lnTo>
                  <a:lnTo>
                    <a:pt x="129031" y="1290827"/>
                  </a:lnTo>
                  <a:lnTo>
                    <a:pt x="2021331" y="1290827"/>
                  </a:lnTo>
                  <a:lnTo>
                    <a:pt x="2071550" y="1280683"/>
                  </a:lnTo>
                  <a:lnTo>
                    <a:pt x="2112565" y="1253018"/>
                  </a:lnTo>
                  <a:lnTo>
                    <a:pt x="2140221" y="1211987"/>
                  </a:lnTo>
                  <a:lnTo>
                    <a:pt x="2150363" y="1161745"/>
                  </a:lnTo>
                  <a:lnTo>
                    <a:pt x="2150363" y="129031"/>
                  </a:lnTo>
                  <a:lnTo>
                    <a:pt x="2140221" y="78813"/>
                  </a:lnTo>
                  <a:lnTo>
                    <a:pt x="2112565" y="37798"/>
                  </a:lnTo>
                  <a:lnTo>
                    <a:pt x="2071550" y="10142"/>
                  </a:lnTo>
                  <a:lnTo>
                    <a:pt x="2021331" y="0"/>
                  </a:lnTo>
                  <a:close/>
                </a:path>
              </a:pathLst>
            </a:custGeom>
            <a:solidFill>
              <a:srgbClr val="EC51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54896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0" y="129031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1" y="0"/>
                  </a:lnTo>
                  <a:lnTo>
                    <a:pt x="2021331" y="0"/>
                  </a:lnTo>
                  <a:lnTo>
                    <a:pt x="2071550" y="10142"/>
                  </a:lnTo>
                  <a:lnTo>
                    <a:pt x="2112565" y="37798"/>
                  </a:lnTo>
                  <a:lnTo>
                    <a:pt x="2140221" y="78813"/>
                  </a:lnTo>
                  <a:lnTo>
                    <a:pt x="2150363" y="129031"/>
                  </a:lnTo>
                  <a:lnTo>
                    <a:pt x="2150363" y="1161745"/>
                  </a:lnTo>
                  <a:lnTo>
                    <a:pt x="2140221" y="1211987"/>
                  </a:lnTo>
                  <a:lnTo>
                    <a:pt x="2112565" y="1253018"/>
                  </a:lnTo>
                  <a:lnTo>
                    <a:pt x="2071550" y="1280683"/>
                  </a:lnTo>
                  <a:lnTo>
                    <a:pt x="2021331" y="1290827"/>
                  </a:lnTo>
                  <a:lnTo>
                    <a:pt x="129031" y="1290827"/>
                  </a:lnTo>
                  <a:lnTo>
                    <a:pt x="78813" y="1280683"/>
                  </a:lnTo>
                  <a:lnTo>
                    <a:pt x="37798" y="1253018"/>
                  </a:lnTo>
                  <a:lnTo>
                    <a:pt x="10142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750297" y="5686450"/>
            <a:ext cx="1565910" cy="4222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403860" marR="5080" indent="-391795">
              <a:lnSpc>
                <a:spcPts val="1440"/>
              </a:lnSpc>
              <a:spcBef>
                <a:spcPts val="350"/>
              </a:spcBef>
            </a:pPr>
            <a:r>
              <a:rPr sz="1400" b="1" spc="-10" dirty="0">
                <a:latin typeface="Times New Roman"/>
                <a:cs typeface="Times New Roman"/>
              </a:rPr>
              <a:t>Prepare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for </a:t>
            </a:r>
            <a:r>
              <a:rPr sz="1400" b="1" spc="-10" dirty="0">
                <a:latin typeface="Times New Roman"/>
                <a:cs typeface="Times New Roman"/>
              </a:rPr>
              <a:t>modelling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10243" y="5646420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0" y="266699"/>
                </a:lnTo>
                <a:lnTo>
                  <a:pt x="227837" y="533399"/>
                </a:lnTo>
                <a:lnTo>
                  <a:pt x="227837" y="426719"/>
                </a:lnTo>
                <a:lnTo>
                  <a:pt x="455675" y="426719"/>
                </a:lnTo>
                <a:lnTo>
                  <a:pt x="455675" y="106679"/>
                </a:lnTo>
                <a:lnTo>
                  <a:pt x="227837" y="106679"/>
                </a:lnTo>
                <a:lnTo>
                  <a:pt x="227837" y="0"/>
                </a:lnTo>
                <a:close/>
              </a:path>
            </a:pathLst>
          </a:custGeom>
          <a:solidFill>
            <a:srgbClr val="EC515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6438900" y="5260847"/>
            <a:ext cx="2164080" cy="1306195"/>
            <a:chOff x="6438900" y="5260847"/>
            <a:chExt cx="2164080" cy="1306195"/>
          </a:xfrm>
        </p:grpSpPr>
        <p:sp>
          <p:nvSpPr>
            <p:cNvPr id="33" name="object 33"/>
            <p:cNvSpPr/>
            <p:nvPr/>
          </p:nvSpPr>
          <p:spPr>
            <a:xfrm>
              <a:off x="64465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2019807" y="0"/>
                  </a:moveTo>
                  <a:lnTo>
                    <a:pt x="129031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2" y="1211987"/>
                  </a:lnTo>
                  <a:lnTo>
                    <a:pt x="37798" y="1253018"/>
                  </a:lnTo>
                  <a:lnTo>
                    <a:pt x="78813" y="1280683"/>
                  </a:lnTo>
                  <a:lnTo>
                    <a:pt x="129031" y="1290827"/>
                  </a:lnTo>
                  <a:lnTo>
                    <a:pt x="2019807" y="1290827"/>
                  </a:lnTo>
                  <a:lnTo>
                    <a:pt x="2070026" y="1280683"/>
                  </a:lnTo>
                  <a:lnTo>
                    <a:pt x="2111041" y="1253018"/>
                  </a:lnTo>
                  <a:lnTo>
                    <a:pt x="2138697" y="1211987"/>
                  </a:lnTo>
                  <a:lnTo>
                    <a:pt x="2148839" y="1161745"/>
                  </a:lnTo>
                  <a:lnTo>
                    <a:pt x="2148839" y="129031"/>
                  </a:lnTo>
                  <a:lnTo>
                    <a:pt x="2138697" y="78813"/>
                  </a:lnTo>
                  <a:lnTo>
                    <a:pt x="2111041" y="37798"/>
                  </a:lnTo>
                  <a:lnTo>
                    <a:pt x="2070026" y="10142"/>
                  </a:lnTo>
                  <a:lnTo>
                    <a:pt x="2019807" y="0"/>
                  </a:lnTo>
                  <a:close/>
                </a:path>
              </a:pathLst>
            </a:custGeom>
            <a:solidFill>
              <a:srgbClr val="6EEB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465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0" y="129031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1" y="0"/>
                  </a:lnTo>
                  <a:lnTo>
                    <a:pt x="2019807" y="0"/>
                  </a:lnTo>
                  <a:lnTo>
                    <a:pt x="2070026" y="10142"/>
                  </a:lnTo>
                  <a:lnTo>
                    <a:pt x="2111041" y="37798"/>
                  </a:lnTo>
                  <a:lnTo>
                    <a:pt x="2138697" y="78813"/>
                  </a:lnTo>
                  <a:lnTo>
                    <a:pt x="2148839" y="129031"/>
                  </a:lnTo>
                  <a:lnTo>
                    <a:pt x="2148839" y="1161745"/>
                  </a:lnTo>
                  <a:lnTo>
                    <a:pt x="2138697" y="1211987"/>
                  </a:lnTo>
                  <a:lnTo>
                    <a:pt x="2111041" y="1253018"/>
                  </a:lnTo>
                  <a:lnTo>
                    <a:pt x="2070026" y="1280683"/>
                  </a:lnTo>
                  <a:lnTo>
                    <a:pt x="2019807" y="1290827"/>
                  </a:lnTo>
                  <a:lnTo>
                    <a:pt x="129031" y="1290827"/>
                  </a:lnTo>
                  <a:lnTo>
                    <a:pt x="78813" y="1280683"/>
                  </a:lnTo>
                  <a:lnTo>
                    <a:pt x="37798" y="1253018"/>
                  </a:lnTo>
                  <a:lnTo>
                    <a:pt x="10142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121143" y="5778500"/>
            <a:ext cx="8001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Modelling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800344" y="5646420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0" y="266699"/>
                </a:lnTo>
                <a:lnTo>
                  <a:pt x="227837" y="533399"/>
                </a:lnTo>
                <a:lnTo>
                  <a:pt x="227837" y="426719"/>
                </a:lnTo>
                <a:lnTo>
                  <a:pt x="455675" y="426719"/>
                </a:lnTo>
                <a:lnTo>
                  <a:pt x="455675" y="106679"/>
                </a:lnTo>
                <a:lnTo>
                  <a:pt x="227837" y="106679"/>
                </a:lnTo>
                <a:lnTo>
                  <a:pt x="227837" y="0"/>
                </a:lnTo>
                <a:close/>
              </a:path>
            </a:pathLst>
          </a:custGeom>
          <a:solidFill>
            <a:srgbClr val="6EEB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3429000" y="5260847"/>
            <a:ext cx="2164080" cy="1306195"/>
            <a:chOff x="3429000" y="5260847"/>
            <a:chExt cx="2164080" cy="1306195"/>
          </a:xfrm>
        </p:grpSpPr>
        <p:sp>
          <p:nvSpPr>
            <p:cNvPr id="38" name="object 38"/>
            <p:cNvSpPr/>
            <p:nvPr/>
          </p:nvSpPr>
          <p:spPr>
            <a:xfrm>
              <a:off x="34366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2019807" y="0"/>
                  </a:moveTo>
                  <a:lnTo>
                    <a:pt x="129031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2" y="1211987"/>
                  </a:lnTo>
                  <a:lnTo>
                    <a:pt x="37798" y="1253018"/>
                  </a:lnTo>
                  <a:lnTo>
                    <a:pt x="78813" y="1280683"/>
                  </a:lnTo>
                  <a:lnTo>
                    <a:pt x="129031" y="1290827"/>
                  </a:lnTo>
                  <a:lnTo>
                    <a:pt x="2019807" y="1290827"/>
                  </a:lnTo>
                  <a:lnTo>
                    <a:pt x="2070026" y="1280683"/>
                  </a:lnTo>
                  <a:lnTo>
                    <a:pt x="2111041" y="1253018"/>
                  </a:lnTo>
                  <a:lnTo>
                    <a:pt x="2138697" y="1211987"/>
                  </a:lnTo>
                  <a:lnTo>
                    <a:pt x="2148840" y="1161745"/>
                  </a:lnTo>
                  <a:lnTo>
                    <a:pt x="2148840" y="129031"/>
                  </a:lnTo>
                  <a:lnTo>
                    <a:pt x="2138697" y="78813"/>
                  </a:lnTo>
                  <a:lnTo>
                    <a:pt x="2111041" y="37798"/>
                  </a:lnTo>
                  <a:lnTo>
                    <a:pt x="2070026" y="10142"/>
                  </a:lnTo>
                  <a:lnTo>
                    <a:pt x="2019807" y="0"/>
                  </a:lnTo>
                  <a:close/>
                </a:path>
              </a:pathLst>
            </a:custGeom>
            <a:solidFill>
              <a:srgbClr val="B6D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366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0" y="129031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1" y="0"/>
                  </a:lnTo>
                  <a:lnTo>
                    <a:pt x="2019807" y="0"/>
                  </a:lnTo>
                  <a:lnTo>
                    <a:pt x="2070026" y="10142"/>
                  </a:lnTo>
                  <a:lnTo>
                    <a:pt x="2111041" y="37798"/>
                  </a:lnTo>
                  <a:lnTo>
                    <a:pt x="2138697" y="78813"/>
                  </a:lnTo>
                  <a:lnTo>
                    <a:pt x="2148840" y="129031"/>
                  </a:lnTo>
                  <a:lnTo>
                    <a:pt x="2148840" y="1161745"/>
                  </a:lnTo>
                  <a:lnTo>
                    <a:pt x="2138697" y="1211987"/>
                  </a:lnTo>
                  <a:lnTo>
                    <a:pt x="2111041" y="1253018"/>
                  </a:lnTo>
                  <a:lnTo>
                    <a:pt x="2070026" y="1280683"/>
                  </a:lnTo>
                  <a:lnTo>
                    <a:pt x="2019807" y="1290827"/>
                  </a:lnTo>
                  <a:lnTo>
                    <a:pt x="129031" y="1290827"/>
                  </a:lnTo>
                  <a:lnTo>
                    <a:pt x="78813" y="1280683"/>
                  </a:lnTo>
                  <a:lnTo>
                    <a:pt x="37798" y="1253018"/>
                  </a:lnTo>
                  <a:lnTo>
                    <a:pt x="10142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975608" y="5778500"/>
            <a:ext cx="1071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Final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91967" y="5646420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30" h="533400">
                <a:moveTo>
                  <a:pt x="227837" y="0"/>
                </a:moveTo>
                <a:lnTo>
                  <a:pt x="0" y="266699"/>
                </a:lnTo>
                <a:lnTo>
                  <a:pt x="227837" y="533399"/>
                </a:lnTo>
                <a:lnTo>
                  <a:pt x="227837" y="426719"/>
                </a:lnTo>
                <a:lnTo>
                  <a:pt x="455675" y="426719"/>
                </a:lnTo>
                <a:lnTo>
                  <a:pt x="455675" y="106679"/>
                </a:lnTo>
                <a:lnTo>
                  <a:pt x="227837" y="106679"/>
                </a:lnTo>
                <a:lnTo>
                  <a:pt x="227837" y="0"/>
                </a:lnTo>
                <a:close/>
              </a:path>
            </a:pathLst>
          </a:custGeom>
          <a:solidFill>
            <a:srgbClr val="B6D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419100" y="5260847"/>
            <a:ext cx="2165985" cy="1306195"/>
            <a:chOff x="419100" y="5260847"/>
            <a:chExt cx="2165985" cy="1306195"/>
          </a:xfrm>
        </p:grpSpPr>
        <p:sp>
          <p:nvSpPr>
            <p:cNvPr id="43" name="object 43"/>
            <p:cNvSpPr/>
            <p:nvPr/>
          </p:nvSpPr>
          <p:spPr>
            <a:xfrm>
              <a:off x="426720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2021332" y="0"/>
                  </a:moveTo>
                  <a:lnTo>
                    <a:pt x="129082" y="0"/>
                  </a:lnTo>
                  <a:lnTo>
                    <a:pt x="78840" y="10142"/>
                  </a:lnTo>
                  <a:lnTo>
                    <a:pt x="37809" y="37798"/>
                  </a:lnTo>
                  <a:lnTo>
                    <a:pt x="10144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4" y="1211987"/>
                  </a:lnTo>
                  <a:lnTo>
                    <a:pt x="37809" y="1253018"/>
                  </a:lnTo>
                  <a:lnTo>
                    <a:pt x="78840" y="1280683"/>
                  </a:lnTo>
                  <a:lnTo>
                    <a:pt x="129082" y="1290827"/>
                  </a:lnTo>
                  <a:lnTo>
                    <a:pt x="2021332" y="1290827"/>
                  </a:lnTo>
                  <a:lnTo>
                    <a:pt x="2071550" y="1280683"/>
                  </a:lnTo>
                  <a:lnTo>
                    <a:pt x="2112565" y="1253018"/>
                  </a:lnTo>
                  <a:lnTo>
                    <a:pt x="2140221" y="1211987"/>
                  </a:lnTo>
                  <a:lnTo>
                    <a:pt x="2150364" y="1161745"/>
                  </a:lnTo>
                  <a:lnTo>
                    <a:pt x="2150364" y="129031"/>
                  </a:lnTo>
                  <a:lnTo>
                    <a:pt x="2140221" y="78813"/>
                  </a:lnTo>
                  <a:lnTo>
                    <a:pt x="2112565" y="37798"/>
                  </a:lnTo>
                  <a:lnTo>
                    <a:pt x="2071550" y="10142"/>
                  </a:lnTo>
                  <a:lnTo>
                    <a:pt x="2021332" y="0"/>
                  </a:lnTo>
                  <a:close/>
                </a:path>
              </a:pathLst>
            </a:custGeom>
            <a:solidFill>
              <a:srgbClr val="EEB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6720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0" y="129031"/>
                  </a:moveTo>
                  <a:lnTo>
                    <a:pt x="10144" y="78813"/>
                  </a:lnTo>
                  <a:lnTo>
                    <a:pt x="37809" y="37798"/>
                  </a:lnTo>
                  <a:lnTo>
                    <a:pt x="78840" y="10142"/>
                  </a:lnTo>
                  <a:lnTo>
                    <a:pt x="129082" y="0"/>
                  </a:lnTo>
                  <a:lnTo>
                    <a:pt x="2021332" y="0"/>
                  </a:lnTo>
                  <a:lnTo>
                    <a:pt x="2071550" y="10142"/>
                  </a:lnTo>
                  <a:lnTo>
                    <a:pt x="2112565" y="37798"/>
                  </a:lnTo>
                  <a:lnTo>
                    <a:pt x="2140221" y="78813"/>
                  </a:lnTo>
                  <a:lnTo>
                    <a:pt x="2150364" y="129031"/>
                  </a:lnTo>
                  <a:lnTo>
                    <a:pt x="2150364" y="1161745"/>
                  </a:lnTo>
                  <a:lnTo>
                    <a:pt x="2140221" y="1211987"/>
                  </a:lnTo>
                  <a:lnTo>
                    <a:pt x="2112565" y="1253018"/>
                  </a:lnTo>
                  <a:lnTo>
                    <a:pt x="2071550" y="1280683"/>
                  </a:lnTo>
                  <a:lnTo>
                    <a:pt x="2021332" y="1290827"/>
                  </a:lnTo>
                  <a:lnTo>
                    <a:pt x="129082" y="1290827"/>
                  </a:lnTo>
                  <a:lnTo>
                    <a:pt x="78840" y="1280683"/>
                  </a:lnTo>
                  <a:lnTo>
                    <a:pt x="37809" y="1253018"/>
                  </a:lnTo>
                  <a:lnTo>
                    <a:pt x="10144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061415" y="5778500"/>
            <a:ext cx="8801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33546" y="2148585"/>
            <a:ext cx="4455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3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chart</a:t>
            </a:r>
            <a:r>
              <a:rPr sz="3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modelling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9" name="object 4">
            <a:extLst>
              <a:ext uri="{FF2B5EF4-FFF2-40B4-BE49-F238E27FC236}">
                <a16:creationId xmlns:a16="http://schemas.microsoft.com/office/drawing/2014/main" id="{072F82B5-7C40-CF4A-D382-96026F925FBE}"/>
              </a:ext>
            </a:extLst>
          </p:cNvPr>
          <p:cNvSpPr txBox="1">
            <a:spLocks/>
          </p:cNvSpPr>
          <p:nvPr/>
        </p:nvSpPr>
        <p:spPr>
          <a:xfrm>
            <a:off x="4175124" y="157400"/>
            <a:ext cx="36576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MODELLING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818388" y="3477767"/>
            <a:ext cx="8155305" cy="1504315"/>
          </a:xfrm>
          <a:custGeom>
            <a:avLst/>
            <a:gdLst/>
            <a:ahLst/>
            <a:cxnLst/>
            <a:rect l="l" t="t" r="r" b="b"/>
            <a:pathLst>
              <a:path w="8155305" h="1504314">
                <a:moveTo>
                  <a:pt x="7402830" y="0"/>
                </a:moveTo>
                <a:lnTo>
                  <a:pt x="7402830" y="376047"/>
                </a:lnTo>
                <a:lnTo>
                  <a:pt x="0" y="376047"/>
                </a:lnTo>
                <a:lnTo>
                  <a:pt x="376047" y="752094"/>
                </a:lnTo>
                <a:lnTo>
                  <a:pt x="0" y="1128141"/>
                </a:lnTo>
                <a:lnTo>
                  <a:pt x="7402830" y="1128141"/>
                </a:lnTo>
                <a:lnTo>
                  <a:pt x="7402830" y="1504188"/>
                </a:lnTo>
                <a:lnTo>
                  <a:pt x="8154923" y="752094"/>
                </a:lnTo>
                <a:lnTo>
                  <a:pt x="7402830" y="0"/>
                </a:lnTo>
                <a:close/>
              </a:path>
            </a:pathLst>
          </a:custGeom>
          <a:solidFill>
            <a:srgbClr val="CAE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20494" y="2767964"/>
            <a:ext cx="1167130" cy="9398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034" marR="5080" indent="-13970" algn="just">
              <a:lnSpc>
                <a:spcPts val="2280"/>
              </a:lnSpc>
              <a:spcBef>
                <a:spcPts val="47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Drop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high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correlated variables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08988" y="2415539"/>
            <a:ext cx="6425565" cy="2010410"/>
            <a:chOff x="1808988" y="2415539"/>
            <a:chExt cx="6425565" cy="2010410"/>
          </a:xfrm>
        </p:grpSpPr>
        <p:sp>
          <p:nvSpPr>
            <p:cNvPr id="10" name="object 10"/>
            <p:cNvSpPr/>
            <p:nvPr/>
          </p:nvSpPr>
          <p:spPr>
            <a:xfrm>
              <a:off x="1816608" y="4041647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5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8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16608" y="4041647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5" h="376554">
                  <a:moveTo>
                    <a:pt x="0" y="188213"/>
                  </a:moveTo>
                  <a:lnTo>
                    <a:pt x="6727" y="138200"/>
                  </a:lnTo>
                  <a:lnTo>
                    <a:pt x="25710" y="93246"/>
                  </a:lnTo>
                  <a:lnTo>
                    <a:pt x="55149" y="55149"/>
                  </a:lnTo>
                  <a:lnTo>
                    <a:pt x="93246" y="25710"/>
                  </a:lnTo>
                  <a:lnTo>
                    <a:pt x="138200" y="6727"/>
                  </a:lnTo>
                  <a:lnTo>
                    <a:pt x="188214" y="0"/>
                  </a:lnTo>
                  <a:lnTo>
                    <a:pt x="238227" y="6727"/>
                  </a:lnTo>
                  <a:lnTo>
                    <a:pt x="283181" y="25710"/>
                  </a:lnTo>
                  <a:lnTo>
                    <a:pt x="321278" y="55149"/>
                  </a:lnTo>
                  <a:lnTo>
                    <a:pt x="350717" y="93246"/>
                  </a:lnTo>
                  <a:lnTo>
                    <a:pt x="369700" y="138200"/>
                  </a:lnTo>
                  <a:lnTo>
                    <a:pt x="376428" y="188213"/>
                  </a:lnTo>
                  <a:lnTo>
                    <a:pt x="369700" y="238227"/>
                  </a:lnTo>
                  <a:lnTo>
                    <a:pt x="350717" y="283181"/>
                  </a:lnTo>
                  <a:lnTo>
                    <a:pt x="321278" y="321278"/>
                  </a:lnTo>
                  <a:lnTo>
                    <a:pt x="283181" y="350717"/>
                  </a:lnTo>
                  <a:lnTo>
                    <a:pt x="238227" y="369700"/>
                  </a:lnTo>
                  <a:lnTo>
                    <a:pt x="188214" y="376427"/>
                  </a:lnTo>
                  <a:lnTo>
                    <a:pt x="138200" y="369700"/>
                  </a:lnTo>
                  <a:lnTo>
                    <a:pt x="93246" y="350717"/>
                  </a:lnTo>
                  <a:lnTo>
                    <a:pt x="55149" y="321278"/>
                  </a:lnTo>
                  <a:lnTo>
                    <a:pt x="25710" y="283181"/>
                  </a:lnTo>
                  <a:lnTo>
                    <a:pt x="6727" y="238227"/>
                  </a:lnTo>
                  <a:lnTo>
                    <a:pt x="0" y="18821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300727" y="4041647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5" h="376554">
                  <a:moveTo>
                    <a:pt x="187451" y="0"/>
                  </a:moveTo>
                  <a:lnTo>
                    <a:pt x="137627" y="6727"/>
                  </a:lnTo>
                  <a:lnTo>
                    <a:pt x="92851" y="25710"/>
                  </a:lnTo>
                  <a:lnTo>
                    <a:pt x="54911" y="55149"/>
                  </a:lnTo>
                  <a:lnTo>
                    <a:pt x="25597" y="93246"/>
                  </a:lnTo>
                  <a:lnTo>
                    <a:pt x="6697" y="138200"/>
                  </a:lnTo>
                  <a:lnTo>
                    <a:pt x="0" y="188213"/>
                  </a:lnTo>
                  <a:lnTo>
                    <a:pt x="6697" y="238227"/>
                  </a:lnTo>
                  <a:lnTo>
                    <a:pt x="25597" y="283181"/>
                  </a:lnTo>
                  <a:lnTo>
                    <a:pt x="54911" y="321278"/>
                  </a:lnTo>
                  <a:lnTo>
                    <a:pt x="92851" y="350717"/>
                  </a:lnTo>
                  <a:lnTo>
                    <a:pt x="137627" y="369700"/>
                  </a:lnTo>
                  <a:lnTo>
                    <a:pt x="187451" y="376427"/>
                  </a:lnTo>
                  <a:lnTo>
                    <a:pt x="237276" y="369700"/>
                  </a:lnTo>
                  <a:lnTo>
                    <a:pt x="282052" y="350717"/>
                  </a:lnTo>
                  <a:lnTo>
                    <a:pt x="319992" y="321278"/>
                  </a:lnTo>
                  <a:lnTo>
                    <a:pt x="349306" y="283181"/>
                  </a:lnTo>
                  <a:lnTo>
                    <a:pt x="368206" y="238227"/>
                  </a:lnTo>
                  <a:lnTo>
                    <a:pt x="374904" y="188213"/>
                  </a:lnTo>
                  <a:lnTo>
                    <a:pt x="368206" y="138200"/>
                  </a:lnTo>
                  <a:lnTo>
                    <a:pt x="349306" y="93246"/>
                  </a:lnTo>
                  <a:lnTo>
                    <a:pt x="319992" y="55149"/>
                  </a:lnTo>
                  <a:lnTo>
                    <a:pt x="282052" y="25710"/>
                  </a:lnTo>
                  <a:lnTo>
                    <a:pt x="237276" y="672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300727" y="4041647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5" h="376554">
                  <a:moveTo>
                    <a:pt x="0" y="188213"/>
                  </a:moveTo>
                  <a:lnTo>
                    <a:pt x="6697" y="138200"/>
                  </a:lnTo>
                  <a:lnTo>
                    <a:pt x="25597" y="93246"/>
                  </a:lnTo>
                  <a:lnTo>
                    <a:pt x="54911" y="55149"/>
                  </a:lnTo>
                  <a:lnTo>
                    <a:pt x="92851" y="25710"/>
                  </a:lnTo>
                  <a:lnTo>
                    <a:pt x="137627" y="6727"/>
                  </a:lnTo>
                  <a:lnTo>
                    <a:pt x="187451" y="0"/>
                  </a:lnTo>
                  <a:lnTo>
                    <a:pt x="237276" y="6727"/>
                  </a:lnTo>
                  <a:lnTo>
                    <a:pt x="282052" y="25710"/>
                  </a:lnTo>
                  <a:lnTo>
                    <a:pt x="319992" y="55149"/>
                  </a:lnTo>
                  <a:lnTo>
                    <a:pt x="349306" y="93246"/>
                  </a:lnTo>
                  <a:lnTo>
                    <a:pt x="368206" y="138200"/>
                  </a:lnTo>
                  <a:lnTo>
                    <a:pt x="374904" y="188213"/>
                  </a:lnTo>
                  <a:lnTo>
                    <a:pt x="368206" y="238227"/>
                  </a:lnTo>
                  <a:lnTo>
                    <a:pt x="349306" y="283181"/>
                  </a:lnTo>
                  <a:lnTo>
                    <a:pt x="319992" y="321278"/>
                  </a:lnTo>
                  <a:lnTo>
                    <a:pt x="282052" y="350717"/>
                  </a:lnTo>
                  <a:lnTo>
                    <a:pt x="237276" y="369700"/>
                  </a:lnTo>
                  <a:lnTo>
                    <a:pt x="187451" y="376427"/>
                  </a:lnTo>
                  <a:lnTo>
                    <a:pt x="137627" y="369700"/>
                  </a:lnTo>
                  <a:lnTo>
                    <a:pt x="92851" y="350717"/>
                  </a:lnTo>
                  <a:lnTo>
                    <a:pt x="54911" y="321278"/>
                  </a:lnTo>
                  <a:lnTo>
                    <a:pt x="25597" y="283181"/>
                  </a:lnTo>
                  <a:lnTo>
                    <a:pt x="6697" y="238227"/>
                  </a:lnTo>
                  <a:lnTo>
                    <a:pt x="0" y="18821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highlight>
                  <a:srgbClr val="FFFF00"/>
                </a:highlight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1572" y="2415539"/>
              <a:ext cx="1063752" cy="6004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9676" y="2705099"/>
              <a:ext cx="2444496" cy="6004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7459" y="2994659"/>
              <a:ext cx="1330452" cy="6004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7440" y="3282695"/>
              <a:ext cx="1653539" cy="6004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75735" y="4700778"/>
            <a:ext cx="2025014" cy="12280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065" marR="5080" indent="-635" algn="ctr">
              <a:lnSpc>
                <a:spcPct val="86200"/>
              </a:lnSpc>
              <a:spcBef>
                <a:spcPts val="459"/>
              </a:spcBef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Dummy creations(variable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counted categories)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0458" y="2478786"/>
            <a:ext cx="2042160" cy="12274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1905" algn="ctr">
              <a:lnSpc>
                <a:spcPct val="86200"/>
              </a:lnSpc>
              <a:spcBef>
                <a:spcPts val="459"/>
              </a:spcBef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Label encoding(variable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large categories)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75704" y="4034028"/>
            <a:ext cx="391795" cy="391795"/>
            <a:chOff x="6775704" y="4034028"/>
            <a:chExt cx="391795" cy="391795"/>
          </a:xfrm>
        </p:grpSpPr>
        <p:sp>
          <p:nvSpPr>
            <p:cNvPr id="21" name="object 21"/>
            <p:cNvSpPr/>
            <p:nvPr/>
          </p:nvSpPr>
          <p:spPr>
            <a:xfrm>
              <a:off x="6783324" y="4041648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83324" y="4041648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0" y="188213"/>
                  </a:moveTo>
                  <a:lnTo>
                    <a:pt x="6727" y="138200"/>
                  </a:lnTo>
                  <a:lnTo>
                    <a:pt x="25710" y="93246"/>
                  </a:lnTo>
                  <a:lnTo>
                    <a:pt x="55149" y="55149"/>
                  </a:lnTo>
                  <a:lnTo>
                    <a:pt x="93246" y="25710"/>
                  </a:lnTo>
                  <a:lnTo>
                    <a:pt x="138200" y="6727"/>
                  </a:lnTo>
                  <a:lnTo>
                    <a:pt x="188214" y="0"/>
                  </a:lnTo>
                  <a:lnTo>
                    <a:pt x="238227" y="6727"/>
                  </a:lnTo>
                  <a:lnTo>
                    <a:pt x="283181" y="25710"/>
                  </a:lnTo>
                  <a:lnTo>
                    <a:pt x="321278" y="55149"/>
                  </a:lnTo>
                  <a:lnTo>
                    <a:pt x="350717" y="93246"/>
                  </a:lnTo>
                  <a:lnTo>
                    <a:pt x="369700" y="138200"/>
                  </a:lnTo>
                  <a:lnTo>
                    <a:pt x="376427" y="188213"/>
                  </a:lnTo>
                  <a:lnTo>
                    <a:pt x="369700" y="238227"/>
                  </a:lnTo>
                  <a:lnTo>
                    <a:pt x="350717" y="283181"/>
                  </a:lnTo>
                  <a:lnTo>
                    <a:pt x="321278" y="321278"/>
                  </a:lnTo>
                  <a:lnTo>
                    <a:pt x="283181" y="350717"/>
                  </a:lnTo>
                  <a:lnTo>
                    <a:pt x="238227" y="369700"/>
                  </a:lnTo>
                  <a:lnTo>
                    <a:pt x="188214" y="376427"/>
                  </a:lnTo>
                  <a:lnTo>
                    <a:pt x="138200" y="369700"/>
                  </a:lnTo>
                  <a:lnTo>
                    <a:pt x="93246" y="350717"/>
                  </a:lnTo>
                  <a:lnTo>
                    <a:pt x="55149" y="321278"/>
                  </a:lnTo>
                  <a:lnTo>
                    <a:pt x="25710" y="283181"/>
                  </a:lnTo>
                  <a:lnTo>
                    <a:pt x="6727" y="238227"/>
                  </a:lnTo>
                  <a:lnTo>
                    <a:pt x="0" y="18821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179052" y="3521964"/>
            <a:ext cx="2467610" cy="1527175"/>
            <a:chOff x="9179052" y="3521964"/>
            <a:chExt cx="2467610" cy="1527175"/>
          </a:xfrm>
        </p:grpSpPr>
        <p:sp>
          <p:nvSpPr>
            <p:cNvPr id="24" name="object 24"/>
            <p:cNvSpPr/>
            <p:nvPr/>
          </p:nvSpPr>
          <p:spPr>
            <a:xfrm>
              <a:off x="9186672" y="3529584"/>
              <a:ext cx="2452370" cy="1511935"/>
            </a:xfrm>
            <a:custGeom>
              <a:avLst/>
              <a:gdLst/>
              <a:ahLst/>
              <a:cxnLst/>
              <a:rect l="l" t="t" r="r" b="b"/>
              <a:pathLst>
                <a:path w="2452370" h="1511935">
                  <a:moveTo>
                    <a:pt x="2200148" y="0"/>
                  </a:moveTo>
                  <a:lnTo>
                    <a:pt x="251968" y="0"/>
                  </a:lnTo>
                  <a:lnTo>
                    <a:pt x="206667" y="4058"/>
                  </a:lnTo>
                  <a:lnTo>
                    <a:pt x="164034" y="15759"/>
                  </a:lnTo>
                  <a:lnTo>
                    <a:pt x="124779" y="34393"/>
                  </a:lnTo>
                  <a:lnTo>
                    <a:pt x="89614" y="59248"/>
                  </a:lnTo>
                  <a:lnTo>
                    <a:pt x="59248" y="89614"/>
                  </a:lnTo>
                  <a:lnTo>
                    <a:pt x="34393" y="124779"/>
                  </a:lnTo>
                  <a:lnTo>
                    <a:pt x="15759" y="164034"/>
                  </a:lnTo>
                  <a:lnTo>
                    <a:pt x="4058" y="206667"/>
                  </a:lnTo>
                  <a:lnTo>
                    <a:pt x="0" y="251967"/>
                  </a:lnTo>
                  <a:lnTo>
                    <a:pt x="0" y="1259839"/>
                  </a:lnTo>
                  <a:lnTo>
                    <a:pt x="4058" y="1305140"/>
                  </a:lnTo>
                  <a:lnTo>
                    <a:pt x="15759" y="1347773"/>
                  </a:lnTo>
                  <a:lnTo>
                    <a:pt x="34393" y="1387028"/>
                  </a:lnTo>
                  <a:lnTo>
                    <a:pt x="59248" y="1422193"/>
                  </a:lnTo>
                  <a:lnTo>
                    <a:pt x="89614" y="1452559"/>
                  </a:lnTo>
                  <a:lnTo>
                    <a:pt x="124779" y="1477414"/>
                  </a:lnTo>
                  <a:lnTo>
                    <a:pt x="164034" y="1496048"/>
                  </a:lnTo>
                  <a:lnTo>
                    <a:pt x="206667" y="1507749"/>
                  </a:lnTo>
                  <a:lnTo>
                    <a:pt x="251968" y="1511808"/>
                  </a:lnTo>
                  <a:lnTo>
                    <a:pt x="2200148" y="1511808"/>
                  </a:lnTo>
                  <a:lnTo>
                    <a:pt x="2245448" y="1507749"/>
                  </a:lnTo>
                  <a:lnTo>
                    <a:pt x="2288081" y="1496048"/>
                  </a:lnTo>
                  <a:lnTo>
                    <a:pt x="2327336" y="1477414"/>
                  </a:lnTo>
                  <a:lnTo>
                    <a:pt x="2362501" y="1452559"/>
                  </a:lnTo>
                  <a:lnTo>
                    <a:pt x="2392867" y="1422193"/>
                  </a:lnTo>
                  <a:lnTo>
                    <a:pt x="2417722" y="1387028"/>
                  </a:lnTo>
                  <a:lnTo>
                    <a:pt x="2436356" y="1347773"/>
                  </a:lnTo>
                  <a:lnTo>
                    <a:pt x="2448057" y="1305140"/>
                  </a:lnTo>
                  <a:lnTo>
                    <a:pt x="2452116" y="1259839"/>
                  </a:lnTo>
                  <a:lnTo>
                    <a:pt x="2452116" y="251967"/>
                  </a:lnTo>
                  <a:lnTo>
                    <a:pt x="2448057" y="206667"/>
                  </a:lnTo>
                  <a:lnTo>
                    <a:pt x="2436356" y="164034"/>
                  </a:lnTo>
                  <a:lnTo>
                    <a:pt x="2417722" y="124779"/>
                  </a:lnTo>
                  <a:lnTo>
                    <a:pt x="2392867" y="89614"/>
                  </a:lnTo>
                  <a:lnTo>
                    <a:pt x="2362501" y="59248"/>
                  </a:lnTo>
                  <a:lnTo>
                    <a:pt x="2327336" y="34393"/>
                  </a:lnTo>
                  <a:lnTo>
                    <a:pt x="2288081" y="15759"/>
                  </a:lnTo>
                  <a:lnTo>
                    <a:pt x="2245448" y="4058"/>
                  </a:lnTo>
                  <a:lnTo>
                    <a:pt x="2200148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86672" y="3529584"/>
              <a:ext cx="2452370" cy="1511935"/>
            </a:xfrm>
            <a:custGeom>
              <a:avLst/>
              <a:gdLst/>
              <a:ahLst/>
              <a:cxnLst/>
              <a:rect l="l" t="t" r="r" b="b"/>
              <a:pathLst>
                <a:path w="2452370" h="1511935">
                  <a:moveTo>
                    <a:pt x="0" y="251967"/>
                  </a:moveTo>
                  <a:lnTo>
                    <a:pt x="4058" y="206667"/>
                  </a:lnTo>
                  <a:lnTo>
                    <a:pt x="15759" y="164034"/>
                  </a:lnTo>
                  <a:lnTo>
                    <a:pt x="34393" y="124779"/>
                  </a:lnTo>
                  <a:lnTo>
                    <a:pt x="59248" y="89614"/>
                  </a:lnTo>
                  <a:lnTo>
                    <a:pt x="89614" y="59248"/>
                  </a:lnTo>
                  <a:lnTo>
                    <a:pt x="124779" y="34393"/>
                  </a:lnTo>
                  <a:lnTo>
                    <a:pt x="164034" y="15759"/>
                  </a:lnTo>
                  <a:lnTo>
                    <a:pt x="206667" y="4058"/>
                  </a:lnTo>
                  <a:lnTo>
                    <a:pt x="251968" y="0"/>
                  </a:lnTo>
                  <a:lnTo>
                    <a:pt x="2200148" y="0"/>
                  </a:lnTo>
                  <a:lnTo>
                    <a:pt x="2245448" y="4058"/>
                  </a:lnTo>
                  <a:lnTo>
                    <a:pt x="2288081" y="15759"/>
                  </a:lnTo>
                  <a:lnTo>
                    <a:pt x="2327336" y="34393"/>
                  </a:lnTo>
                  <a:lnTo>
                    <a:pt x="2362501" y="59248"/>
                  </a:lnTo>
                  <a:lnTo>
                    <a:pt x="2392867" y="89614"/>
                  </a:lnTo>
                  <a:lnTo>
                    <a:pt x="2417722" y="124779"/>
                  </a:lnTo>
                  <a:lnTo>
                    <a:pt x="2436356" y="164034"/>
                  </a:lnTo>
                  <a:lnTo>
                    <a:pt x="2448057" y="206667"/>
                  </a:lnTo>
                  <a:lnTo>
                    <a:pt x="2452116" y="251967"/>
                  </a:lnTo>
                  <a:lnTo>
                    <a:pt x="2452116" y="1259839"/>
                  </a:lnTo>
                  <a:lnTo>
                    <a:pt x="2448057" y="1305140"/>
                  </a:lnTo>
                  <a:lnTo>
                    <a:pt x="2436356" y="1347773"/>
                  </a:lnTo>
                  <a:lnTo>
                    <a:pt x="2417722" y="1387028"/>
                  </a:lnTo>
                  <a:lnTo>
                    <a:pt x="2392867" y="1422193"/>
                  </a:lnTo>
                  <a:lnTo>
                    <a:pt x="2362501" y="1452559"/>
                  </a:lnTo>
                  <a:lnTo>
                    <a:pt x="2327336" y="1477414"/>
                  </a:lnTo>
                  <a:lnTo>
                    <a:pt x="2288081" y="1496048"/>
                  </a:lnTo>
                  <a:lnTo>
                    <a:pt x="2245448" y="1507749"/>
                  </a:lnTo>
                  <a:lnTo>
                    <a:pt x="2200148" y="1511808"/>
                  </a:lnTo>
                  <a:lnTo>
                    <a:pt x="251968" y="1511808"/>
                  </a:lnTo>
                  <a:lnTo>
                    <a:pt x="206667" y="1507749"/>
                  </a:lnTo>
                  <a:lnTo>
                    <a:pt x="164034" y="1496048"/>
                  </a:lnTo>
                  <a:lnTo>
                    <a:pt x="124779" y="1477414"/>
                  </a:lnTo>
                  <a:lnTo>
                    <a:pt x="89614" y="1452559"/>
                  </a:lnTo>
                  <a:lnTo>
                    <a:pt x="59248" y="1422193"/>
                  </a:lnTo>
                  <a:lnTo>
                    <a:pt x="34393" y="1387028"/>
                  </a:lnTo>
                  <a:lnTo>
                    <a:pt x="15759" y="1347773"/>
                  </a:lnTo>
                  <a:lnTo>
                    <a:pt x="4058" y="1305140"/>
                  </a:lnTo>
                  <a:lnTo>
                    <a:pt x="0" y="1259839"/>
                  </a:lnTo>
                  <a:lnTo>
                    <a:pt x="0" y="251967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573006" y="3854957"/>
            <a:ext cx="168211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ready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the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splitting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X,y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(train,test)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9" name="object 4">
            <a:extLst>
              <a:ext uri="{FF2B5EF4-FFF2-40B4-BE49-F238E27FC236}">
                <a16:creationId xmlns:a16="http://schemas.microsoft.com/office/drawing/2014/main" id="{D7A75DB0-3657-1886-3B73-296DBC01EDBF}"/>
              </a:ext>
            </a:extLst>
          </p:cNvPr>
          <p:cNvSpPr txBox="1">
            <a:spLocks/>
          </p:cNvSpPr>
          <p:nvPr/>
        </p:nvSpPr>
        <p:spPr>
          <a:xfrm>
            <a:off x="1194053" y="388210"/>
            <a:ext cx="1030681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PREPARING DATA FOR MODELLING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0748" y="269747"/>
            <a:ext cx="11279505" cy="5023485"/>
            <a:chOff x="650748" y="269747"/>
            <a:chExt cx="11279505" cy="5023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748" y="269747"/>
              <a:ext cx="11279124" cy="43738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49112" y="4643627"/>
              <a:ext cx="303530" cy="641985"/>
            </a:xfrm>
            <a:custGeom>
              <a:avLst/>
              <a:gdLst/>
              <a:ahLst/>
              <a:cxnLst/>
              <a:rect l="l" t="t" r="r" b="b"/>
              <a:pathLst>
                <a:path w="303529" h="641985">
                  <a:moveTo>
                    <a:pt x="227457" y="0"/>
                  </a:moveTo>
                  <a:lnTo>
                    <a:pt x="75818" y="0"/>
                  </a:lnTo>
                  <a:lnTo>
                    <a:pt x="75818" y="489966"/>
                  </a:lnTo>
                  <a:lnTo>
                    <a:pt x="0" y="489966"/>
                  </a:lnTo>
                  <a:lnTo>
                    <a:pt x="151637" y="641604"/>
                  </a:lnTo>
                  <a:lnTo>
                    <a:pt x="303275" y="489966"/>
                  </a:lnTo>
                  <a:lnTo>
                    <a:pt x="227457" y="489966"/>
                  </a:lnTo>
                  <a:lnTo>
                    <a:pt x="227457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49112" y="4643627"/>
              <a:ext cx="303530" cy="641985"/>
            </a:xfrm>
            <a:custGeom>
              <a:avLst/>
              <a:gdLst/>
              <a:ahLst/>
              <a:cxnLst/>
              <a:rect l="l" t="t" r="r" b="b"/>
              <a:pathLst>
                <a:path w="303529" h="641985">
                  <a:moveTo>
                    <a:pt x="0" y="489966"/>
                  </a:moveTo>
                  <a:lnTo>
                    <a:pt x="75818" y="489966"/>
                  </a:lnTo>
                  <a:lnTo>
                    <a:pt x="75818" y="0"/>
                  </a:lnTo>
                  <a:lnTo>
                    <a:pt x="227457" y="0"/>
                  </a:lnTo>
                  <a:lnTo>
                    <a:pt x="227457" y="489966"/>
                  </a:lnTo>
                  <a:lnTo>
                    <a:pt x="303275" y="489966"/>
                  </a:lnTo>
                  <a:lnTo>
                    <a:pt x="151637" y="641604"/>
                  </a:lnTo>
                  <a:lnTo>
                    <a:pt x="0" y="489966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03472" y="5190490"/>
            <a:ext cx="59239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Treating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imbalance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(using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SMOTE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0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ADASYN)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07964" y="5681471"/>
            <a:ext cx="352425" cy="527685"/>
            <a:chOff x="5807964" y="5681471"/>
            <a:chExt cx="352425" cy="527685"/>
          </a:xfrm>
        </p:grpSpPr>
        <p:sp>
          <p:nvSpPr>
            <p:cNvPr id="8" name="object 8"/>
            <p:cNvSpPr/>
            <p:nvPr/>
          </p:nvSpPr>
          <p:spPr>
            <a:xfrm>
              <a:off x="5815584" y="5689091"/>
              <a:ext cx="337185" cy="512445"/>
            </a:xfrm>
            <a:custGeom>
              <a:avLst/>
              <a:gdLst/>
              <a:ahLst/>
              <a:cxnLst/>
              <a:rect l="l" t="t" r="r" b="b"/>
              <a:pathLst>
                <a:path w="337185" h="512445">
                  <a:moveTo>
                    <a:pt x="252602" y="0"/>
                  </a:moveTo>
                  <a:lnTo>
                    <a:pt x="84200" y="0"/>
                  </a:lnTo>
                  <a:lnTo>
                    <a:pt x="84200" y="343662"/>
                  </a:lnTo>
                  <a:lnTo>
                    <a:pt x="0" y="343662"/>
                  </a:lnTo>
                  <a:lnTo>
                    <a:pt x="168401" y="512064"/>
                  </a:lnTo>
                  <a:lnTo>
                    <a:pt x="336803" y="343662"/>
                  </a:lnTo>
                  <a:lnTo>
                    <a:pt x="252602" y="343662"/>
                  </a:lnTo>
                  <a:lnTo>
                    <a:pt x="252602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15584" y="5689091"/>
              <a:ext cx="337185" cy="512445"/>
            </a:xfrm>
            <a:custGeom>
              <a:avLst/>
              <a:gdLst/>
              <a:ahLst/>
              <a:cxnLst/>
              <a:rect l="l" t="t" r="r" b="b"/>
              <a:pathLst>
                <a:path w="337185" h="512445">
                  <a:moveTo>
                    <a:pt x="0" y="343662"/>
                  </a:moveTo>
                  <a:lnTo>
                    <a:pt x="84200" y="343662"/>
                  </a:lnTo>
                  <a:lnTo>
                    <a:pt x="84200" y="0"/>
                  </a:lnTo>
                  <a:lnTo>
                    <a:pt x="252602" y="0"/>
                  </a:lnTo>
                  <a:lnTo>
                    <a:pt x="252602" y="343662"/>
                  </a:lnTo>
                  <a:lnTo>
                    <a:pt x="336803" y="343662"/>
                  </a:lnTo>
                  <a:lnTo>
                    <a:pt x="168401" y="512064"/>
                  </a:lnTo>
                  <a:lnTo>
                    <a:pt x="0" y="343662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65750" y="6228079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MODELLING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3663" y="5767222"/>
            <a:ext cx="5899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11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125749"/>
              </p:ext>
            </p:extLst>
          </p:nvPr>
        </p:nvGraphicFramePr>
        <p:xfrm>
          <a:off x="1294257" y="1377441"/>
          <a:ext cx="9504044" cy="3343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4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F1-Score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Specificity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400" spc="-7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400" spc="-4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5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SMOTE)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99.6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84.7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66.5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54.8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99.6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400" spc="-8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400" spc="-4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1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ADASYN)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99.6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84.1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67.4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56.3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99.7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400" spc="-7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400" spc="-5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SMOTE</a:t>
                      </a:r>
                      <a:r>
                        <a:rPr sz="1400" spc="-7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Tuned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99.6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88.8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56.5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41.4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99.3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3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Forests</a:t>
                      </a: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5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SMOTE)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99.8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80.0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84.3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89.1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3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Forests</a:t>
                      </a: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1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ADASYN)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99.8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77.6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83.6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90.6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100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4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Forests</a:t>
                      </a:r>
                      <a:r>
                        <a:rPr sz="1400" spc="-4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SMOTE</a:t>
                      </a:r>
                      <a:r>
                        <a:rPr sz="1400" spc="-5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Tuned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99.8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80.0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84.3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41.1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99.3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400" b="1" u="sng" spc="-3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b="1" u="sng" spc="-4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spc="-1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SMOTE)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89.6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87.4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85.2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400" spc="-25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1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ADASYN)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89.1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86.7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84.4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chemeClr val="bg2"/>
                          </a:solid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400" b="1" u="sng" spc="-45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SMOTE</a:t>
                      </a:r>
                      <a:r>
                        <a:rPr sz="1400" b="1" u="sng" spc="-45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Tuned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89.6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87.4</a:t>
                      </a:r>
                      <a:endParaRPr sz="140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85.2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solidFill>
                            <a:schemeClr val="bg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 dirty="0">
                        <a:solidFill>
                          <a:schemeClr val="bg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23286" y="5181600"/>
            <a:ext cx="1049812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XGBoost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i.e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modelling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SMOTE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Hyper-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tuned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SMOTE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XGBoost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giving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further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A90E8A7-0ED1-6C98-C367-1847649D05AD}"/>
              </a:ext>
            </a:extLst>
          </p:cNvPr>
          <p:cNvSpPr txBox="1">
            <a:spLocks/>
          </p:cNvSpPr>
          <p:nvPr/>
        </p:nvSpPr>
        <p:spPr>
          <a:xfrm>
            <a:off x="2895600" y="186248"/>
            <a:ext cx="55626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MODELLING STATS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3" y="2185415"/>
            <a:ext cx="4597908" cy="4053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3339" y="2284222"/>
            <a:ext cx="4260850" cy="377888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09"/>
              </a:spcBef>
            </a:pP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7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accuracy,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ROC,</a:t>
            </a:r>
            <a:r>
              <a:rPr sz="17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precision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recall</a:t>
            </a:r>
            <a:r>
              <a:rPr sz="17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7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7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models,</a:t>
            </a:r>
            <a:r>
              <a:rPr sz="17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7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7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consider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XGBOOST</a:t>
            </a:r>
            <a:r>
              <a:rPr sz="1700" spc="204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1700" spc="-20" dirty="0">
                <a:solidFill>
                  <a:srgbClr val="FFFFFF"/>
                </a:solidFill>
                <a:latin typeface="Times New Roman"/>
                <a:cs typeface="Times New Roman"/>
              </a:rPr>
              <a:t>(Hyper-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1700" spc="204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Tuning)</a:t>
            </a:r>
            <a:r>
              <a:rPr sz="1700" spc="21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SMOTE</a:t>
            </a:r>
            <a:r>
              <a:rPr sz="1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7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17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final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 model.</a:t>
            </a: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ts val="1835"/>
              </a:lnSpc>
              <a:spcBef>
                <a:spcPts val="600"/>
              </a:spcBef>
            </a:pP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700" u="sng" spc="1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test</a:t>
            </a:r>
            <a:r>
              <a:rPr sz="1700" u="sng" spc="12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accuracy</a:t>
            </a:r>
            <a:r>
              <a:rPr sz="1700" u="sng" spc="1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13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99.9%,</a:t>
            </a:r>
            <a:r>
              <a:rPr sz="1700" u="sng" spc="13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recall</a:t>
            </a:r>
            <a:r>
              <a:rPr sz="1700" u="sng" spc="12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13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89.6%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and</a:t>
            </a: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ts val="1835"/>
              </a:lnSpc>
            </a:pP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ROC</a:t>
            </a:r>
            <a:r>
              <a:rPr sz="1700" u="sng" spc="-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-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99.8%</a:t>
            </a:r>
            <a:r>
              <a:rPr sz="1700" u="sng" spc="-3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5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80000"/>
              </a:lnSpc>
              <a:spcBef>
                <a:spcPts val="1010"/>
              </a:spcBef>
            </a:pP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7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recall</a:t>
            </a:r>
            <a:r>
              <a:rPr sz="17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7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7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7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7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89.6%,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7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7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highest</a:t>
            </a:r>
            <a:r>
              <a:rPr sz="17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among</a:t>
            </a:r>
            <a:r>
              <a:rPr sz="17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17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17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models.</a:t>
            </a:r>
            <a:r>
              <a:rPr sz="17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u="sng" spc="-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Since</a:t>
            </a:r>
            <a:r>
              <a:rPr sz="1700" spc="-10" dirty="0">
                <a:solidFill>
                  <a:srgbClr val="44FFF5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our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buisness</a:t>
            </a:r>
            <a:r>
              <a:rPr sz="1700" u="sng" spc="10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objective</a:t>
            </a:r>
            <a:r>
              <a:rPr sz="1700" u="sng" spc="1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more</a:t>
            </a:r>
            <a:r>
              <a:rPr sz="1700" u="sng" spc="10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important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spc="-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700" spc="-25" dirty="0">
                <a:solidFill>
                  <a:srgbClr val="44FFF5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identify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fraudulent</a:t>
            </a:r>
            <a:r>
              <a:rPr sz="1700" u="sng" spc="1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transaction</a:t>
            </a:r>
            <a:r>
              <a:rPr sz="1700" u="sng" spc="1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than</a:t>
            </a:r>
            <a:r>
              <a:rPr sz="1700" u="sng" spc="1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spc="-2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1700" spc="-20" dirty="0">
                <a:solidFill>
                  <a:srgbClr val="44FFF5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fraudulent</a:t>
            </a:r>
            <a:r>
              <a:rPr sz="1700" u="sng" spc="9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transaction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accurately.</a:t>
            </a:r>
            <a:r>
              <a:rPr sz="1700" spc="95" dirty="0">
                <a:solidFill>
                  <a:srgbClr val="44FFF5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17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recall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means</a:t>
            </a:r>
            <a:r>
              <a:rPr sz="17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7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7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correctly</a:t>
            </a:r>
            <a:r>
              <a:rPr sz="17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17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almost</a:t>
            </a:r>
            <a:r>
              <a:rPr sz="17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all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7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transaction.</a:t>
            </a:r>
            <a:endParaRPr sz="1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80000"/>
              </a:lnSpc>
              <a:spcBef>
                <a:spcPts val="1005"/>
              </a:spcBef>
            </a:pP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1700" spc="2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XGBOOST</a:t>
            </a:r>
            <a:r>
              <a:rPr sz="1700" u="sng" spc="204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(Hyperparameter</a:t>
            </a:r>
            <a:r>
              <a:rPr sz="1700" u="sng" spc="204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spc="-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Tuning)</a:t>
            </a:r>
            <a:r>
              <a:rPr sz="1700" spc="-10" dirty="0">
                <a:solidFill>
                  <a:srgbClr val="44FFF5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1700" u="sng" spc="24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1700" u="sng" spc="23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SMOTE</a:t>
            </a:r>
            <a:r>
              <a:rPr sz="1700" u="sng" spc="24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1700" u="sng" spc="25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7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chosen</a:t>
            </a:r>
            <a:r>
              <a:rPr sz="17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7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7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its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1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Recall</a:t>
            </a:r>
            <a:r>
              <a:rPr sz="1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metric.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77740" y="318515"/>
            <a:ext cx="7065645" cy="6094730"/>
            <a:chOff x="4777740" y="318515"/>
            <a:chExt cx="7065645" cy="60947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7740" y="318515"/>
              <a:ext cx="7065263" cy="60944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1080" y="371855"/>
              <a:ext cx="6958583" cy="59877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00800" y="5720080"/>
              <a:ext cx="826135" cy="427990"/>
            </a:xfrm>
            <a:custGeom>
              <a:avLst/>
              <a:gdLst/>
              <a:ahLst/>
              <a:cxnLst/>
              <a:rect l="l" t="t" r="r" b="b"/>
              <a:pathLst>
                <a:path w="826134" h="427989">
                  <a:moveTo>
                    <a:pt x="826008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0" y="374650"/>
                  </a:lnTo>
                  <a:lnTo>
                    <a:pt x="0" y="427990"/>
                  </a:lnTo>
                  <a:lnTo>
                    <a:pt x="826008" y="427990"/>
                  </a:lnTo>
                  <a:lnTo>
                    <a:pt x="826008" y="374650"/>
                  </a:lnTo>
                  <a:lnTo>
                    <a:pt x="53467" y="374650"/>
                  </a:lnTo>
                  <a:lnTo>
                    <a:pt x="53467" y="53340"/>
                  </a:lnTo>
                  <a:lnTo>
                    <a:pt x="772414" y="53340"/>
                  </a:lnTo>
                  <a:lnTo>
                    <a:pt x="772414" y="374205"/>
                  </a:lnTo>
                  <a:lnTo>
                    <a:pt x="826008" y="374205"/>
                  </a:lnTo>
                  <a:lnTo>
                    <a:pt x="826008" y="53340"/>
                  </a:lnTo>
                  <a:lnTo>
                    <a:pt x="826008" y="53022"/>
                  </a:lnTo>
                  <a:lnTo>
                    <a:pt x="82600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800" y="5719571"/>
              <a:ext cx="826135" cy="428625"/>
            </a:xfrm>
            <a:custGeom>
              <a:avLst/>
              <a:gdLst/>
              <a:ahLst/>
              <a:cxnLst/>
              <a:rect l="l" t="t" r="r" b="b"/>
              <a:pathLst>
                <a:path w="826134" h="428625">
                  <a:moveTo>
                    <a:pt x="0" y="0"/>
                  </a:moveTo>
                  <a:lnTo>
                    <a:pt x="826007" y="0"/>
                  </a:lnTo>
                  <a:lnTo>
                    <a:pt x="826007" y="428243"/>
                  </a:lnTo>
                  <a:lnTo>
                    <a:pt x="0" y="428243"/>
                  </a:lnTo>
                  <a:lnTo>
                    <a:pt x="0" y="0"/>
                  </a:lnTo>
                  <a:close/>
                </a:path>
                <a:path w="826134" h="428625">
                  <a:moveTo>
                    <a:pt x="53466" y="53530"/>
                  </a:moveTo>
                  <a:lnTo>
                    <a:pt x="53466" y="374713"/>
                  </a:lnTo>
                  <a:lnTo>
                    <a:pt x="772414" y="374713"/>
                  </a:lnTo>
                  <a:lnTo>
                    <a:pt x="772414" y="53530"/>
                  </a:lnTo>
                  <a:lnTo>
                    <a:pt x="53466" y="53530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4">
            <a:extLst>
              <a:ext uri="{FF2B5EF4-FFF2-40B4-BE49-F238E27FC236}">
                <a16:creationId xmlns:a16="http://schemas.microsoft.com/office/drawing/2014/main" id="{824F0E81-C69F-D832-F2FF-94B81C70F0B5}"/>
              </a:ext>
            </a:extLst>
          </p:cNvPr>
          <p:cNvSpPr txBox="1">
            <a:spLocks/>
          </p:cNvSpPr>
          <p:nvPr/>
        </p:nvSpPr>
        <p:spPr>
          <a:xfrm>
            <a:off x="888487" y="720847"/>
            <a:ext cx="396385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MODEL REFLECTION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3247" y="1895855"/>
            <a:ext cx="3166872" cy="7467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26767" y="2017903"/>
            <a:ext cx="271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1(on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Whole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01256" y="3622547"/>
            <a:ext cx="3386328" cy="7467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225030" y="3744544"/>
            <a:ext cx="2938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2(After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Modelling)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9288" y="2360676"/>
            <a:ext cx="11678920" cy="4183379"/>
            <a:chOff x="399288" y="2360676"/>
            <a:chExt cx="11678920" cy="4183379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288" y="2360676"/>
              <a:ext cx="4965192" cy="18714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628" y="2414016"/>
              <a:ext cx="4858512" cy="17647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09516" y="4258055"/>
              <a:ext cx="7568184" cy="2286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2855" y="4311396"/>
              <a:ext cx="7461504" cy="2179319"/>
            </a:xfrm>
            <a:prstGeom prst="rect">
              <a:avLst/>
            </a:prstGeom>
          </p:spPr>
        </p:pic>
      </p:grpSp>
      <p:sp>
        <p:nvSpPr>
          <p:cNvPr id="18" name="object 4">
            <a:extLst>
              <a:ext uri="{FF2B5EF4-FFF2-40B4-BE49-F238E27FC236}">
                <a16:creationId xmlns:a16="http://schemas.microsoft.com/office/drawing/2014/main" id="{B1ADCF84-2413-00F2-78F0-44589A9186F1}"/>
              </a:ext>
            </a:extLst>
          </p:cNvPr>
          <p:cNvSpPr txBox="1">
            <a:spLocks/>
          </p:cNvSpPr>
          <p:nvPr/>
        </p:nvSpPr>
        <p:spPr>
          <a:xfrm>
            <a:off x="2438400" y="239267"/>
            <a:ext cx="73152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COST BENEFIT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3858767"/>
            <a:ext cx="2019300" cy="12222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2004" y="4077461"/>
            <a:ext cx="1632585" cy="9994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560"/>
              </a:lnSpc>
              <a:spcBef>
                <a:spcPts val="35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Before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ML</a:t>
            </a:r>
            <a:r>
              <a:rPr sz="1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endParaRPr sz="1500">
              <a:latin typeface="Times New Roman"/>
              <a:cs typeface="Times New Roman"/>
            </a:endParaRPr>
          </a:p>
          <a:p>
            <a:pPr marL="85725" algn="ctr">
              <a:lnSpc>
                <a:spcPct val="100000"/>
              </a:lnSpc>
              <a:spcBef>
                <a:spcPts val="335"/>
              </a:spcBef>
            </a:pP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1500">
              <a:latin typeface="Times New Roman"/>
              <a:cs typeface="Times New Roman"/>
            </a:endParaRPr>
          </a:p>
          <a:p>
            <a:pPr marL="83185" algn="ctr">
              <a:lnSpc>
                <a:spcPct val="100000"/>
              </a:lnSpc>
              <a:spcBef>
                <a:spcPts val="36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$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213392.220.4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2764" y="3302508"/>
            <a:ext cx="370331" cy="3703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9023" y="3311652"/>
            <a:ext cx="2019300" cy="12222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53536" y="3530345"/>
            <a:ext cx="1632585" cy="13169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635" algn="ctr">
              <a:lnSpc>
                <a:spcPct val="86300"/>
              </a:lnSpc>
              <a:spcBef>
                <a:spcPts val="345"/>
              </a:spcBef>
            </a:pP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support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per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fraudulent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detected</a:t>
            </a:r>
            <a:endParaRPr sz="1500" dirty="0">
              <a:latin typeface="Times New Roman"/>
              <a:cs typeface="Times New Roman"/>
            </a:endParaRPr>
          </a:p>
          <a:p>
            <a:pPr marL="3175" algn="ctr">
              <a:lnSpc>
                <a:spcPts val="1560"/>
              </a:lnSpc>
            </a:pP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15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35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$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607.6875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2564" y="2756916"/>
            <a:ext cx="370332" cy="3688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8823" y="2764535"/>
            <a:ext cx="2020824" cy="122224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322570" y="2982925"/>
            <a:ext cx="1710689" cy="119697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ct val="86400"/>
              </a:lnSpc>
              <a:spcBef>
                <a:spcPts val="345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per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after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model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5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built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deployed</a:t>
            </a:r>
            <a:endParaRPr sz="1500" dirty="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360"/>
              </a:spcBef>
            </a:pP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1500" dirty="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35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$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9230.94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22364" y="2209800"/>
            <a:ext cx="370331" cy="36880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78623" y="2217420"/>
            <a:ext cx="2020824" cy="122224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532878" y="3027679"/>
            <a:ext cx="14624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After</a:t>
            </a:r>
            <a:r>
              <a:rPr sz="15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ML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80"/>
              </a:lnSpc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Deployed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933688" y="1341119"/>
            <a:ext cx="2575560" cy="1222375"/>
            <a:chOff x="8933688" y="1341119"/>
            <a:chExt cx="2575560" cy="1222375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3688" y="1662683"/>
              <a:ext cx="368807" cy="3703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88424" y="1341119"/>
              <a:ext cx="2020824" cy="122224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532878" y="1597019"/>
            <a:ext cx="3630295" cy="14884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228850">
              <a:lnSpc>
                <a:spcPct val="100000"/>
              </a:lnSpc>
              <a:spcBef>
                <a:spcPts val="515"/>
              </a:spcBef>
            </a:pP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Savings</a:t>
            </a:r>
            <a:endParaRPr sz="1800">
              <a:latin typeface="Times New Roman"/>
              <a:cs typeface="Times New Roman"/>
            </a:endParaRPr>
          </a:p>
          <a:p>
            <a:pPr marL="2285365">
              <a:lnSpc>
                <a:spcPct val="100000"/>
              </a:lnSpc>
              <a:spcBef>
                <a:spcPts val="420"/>
              </a:spcBef>
            </a:pPr>
            <a:r>
              <a:rPr sz="1800" b="1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1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imes New Roman"/>
                <a:cs typeface="Times New Roman"/>
              </a:rPr>
              <a:t>$</a:t>
            </a:r>
            <a:r>
              <a:rPr sz="180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204161.28</a:t>
            </a:r>
            <a:endParaRPr sz="1800">
              <a:latin typeface="Times New Roman"/>
              <a:cs typeface="Times New Roman"/>
            </a:endParaRPr>
          </a:p>
          <a:p>
            <a:pPr marL="12700" marR="2066289">
              <a:lnSpc>
                <a:spcPct val="86300"/>
              </a:lnSpc>
              <a:spcBef>
                <a:spcPts val="170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Savings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Cost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ML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2004" y="5322140"/>
            <a:ext cx="1040381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marR="5080" indent="-45593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95.67%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drastic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decrease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paid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28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2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FBA58FE1-AD24-0ECD-6E73-5573A5F0C7EA}"/>
              </a:ext>
            </a:extLst>
          </p:cNvPr>
          <p:cNvSpPr txBox="1">
            <a:spLocks/>
          </p:cNvSpPr>
          <p:nvPr/>
        </p:nvSpPr>
        <p:spPr>
          <a:xfrm>
            <a:off x="1383792" y="148351"/>
            <a:ext cx="8171689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CONCLUSION: PROFIT PREDICTED AFTER USING ML MODELS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415415" y="1005488"/>
            <a:ext cx="9970770" cy="5507918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0320" marR="381635" indent="201295">
              <a:lnSpc>
                <a:spcPct val="86300"/>
              </a:lnSpc>
              <a:spcBef>
                <a:spcPts val="395"/>
              </a:spcBef>
              <a:buSzPct val="88888"/>
              <a:buAutoNum type="arabicPeriod"/>
              <a:tabLst>
                <a:tab pos="22161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`hist_trans_avg_amt_24h`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values.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Based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upon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past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spending pattern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derived`hist_trans_avg_amt_24h`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actually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average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spent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through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last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holder's.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comparable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amount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spent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last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24hrs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v/s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past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spent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gets</a:t>
            </a:r>
            <a:r>
              <a:rPr sz="18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increased</a:t>
            </a:r>
            <a:r>
              <a:rPr sz="18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then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ideal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sent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SMS</a:t>
            </a:r>
            <a:r>
              <a:rPr sz="1800" u="sng" spc="-114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ALERT!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customer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confirming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about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</a:t>
            </a:r>
            <a:endParaRPr sz="1800" dirty="0">
              <a:latin typeface="Times New Roman"/>
              <a:cs typeface="Times New Roman"/>
            </a:endParaRPr>
          </a:p>
          <a:p>
            <a:pPr marL="20320" marR="189230" indent="201295" algn="just">
              <a:lnSpc>
                <a:spcPts val="1860"/>
              </a:lnSpc>
              <a:spcBef>
                <a:spcPts val="1185"/>
              </a:spcBef>
              <a:buSzPct val="88888"/>
              <a:buAutoNum type="arabicPeriod"/>
              <a:tabLst>
                <a:tab pos="22161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weekday</a:t>
            </a:r>
            <a:r>
              <a:rPr sz="1800" u="sng" spc="-6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Thursday,</a:t>
            </a:r>
            <a:r>
              <a:rPr sz="1800" u="sng" spc="-7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Saturday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Monday</a:t>
            </a:r>
            <a:r>
              <a:rPr sz="1800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values.</a:t>
            </a:r>
            <a:r>
              <a:rPr sz="1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pattern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shows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noticed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weekday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Thursday,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Saturday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Monday.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So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banks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need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be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extra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cautious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high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specific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days</a:t>
            </a:r>
            <a:r>
              <a:rPr sz="1800" u="sng" spc="-5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avoid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fraudulent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transactions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these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categories.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  <a:buAutoNum type="arabicPeriod"/>
            </a:pPr>
            <a:endParaRPr sz="1800" dirty="0">
              <a:latin typeface="Times New Roman"/>
              <a:cs typeface="Times New Roman"/>
            </a:endParaRPr>
          </a:p>
          <a:p>
            <a:pPr marL="20320" marR="216535" indent="224154">
              <a:lnSpc>
                <a:spcPts val="1860"/>
              </a:lnSpc>
              <a:buSzPct val="88888"/>
              <a:buFont typeface="Century Gothic"/>
              <a:buAutoNum type="arabicPeriod"/>
              <a:tabLst>
                <a:tab pos="24447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`amt`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values.</a:t>
            </a:r>
            <a:r>
              <a:rPr sz="1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bank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notices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nature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amount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spent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higher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then</a:t>
            </a:r>
            <a:r>
              <a:rPr sz="18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regular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spending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pattern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cases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bank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should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noticed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same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early</a:t>
            </a:r>
            <a:r>
              <a:rPr sz="1800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stage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by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sending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neccessary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alerts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customers.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AutoNum type="arabicPeriod"/>
            </a:pPr>
            <a:endParaRPr sz="1800" dirty="0">
              <a:latin typeface="Times New Roman"/>
              <a:cs typeface="Times New Roman"/>
            </a:endParaRPr>
          </a:p>
          <a:p>
            <a:pPr marL="12700" marR="5080" indent="195580">
              <a:lnSpc>
                <a:spcPct val="87700"/>
              </a:lnSpc>
              <a:spcBef>
                <a:spcPts val="5"/>
              </a:spcBef>
              <a:buSzPct val="87500"/>
              <a:buFont typeface="Century Gothic"/>
              <a:buAutoNum type="arabicPeriod"/>
              <a:tabLst>
                <a:tab pos="208279" algn="l"/>
              </a:tabLst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categories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home,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shopping_pos,</a:t>
            </a:r>
            <a:r>
              <a:rPr sz="1600" u="sng" spc="-7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grocery_pos,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health_fitness,</a:t>
            </a:r>
            <a:r>
              <a:rPr sz="1600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gas_transport</a:t>
            </a:r>
            <a:r>
              <a:rPr sz="1600" u="sng" spc="3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values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predicted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occurred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customer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would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spend</a:t>
            </a:r>
            <a:r>
              <a:rPr sz="16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large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transactional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amount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so</a:t>
            </a:r>
            <a:r>
              <a:rPr sz="16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fraudsters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also</a:t>
            </a:r>
            <a:r>
              <a:rPr sz="16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follows</a:t>
            </a:r>
            <a:r>
              <a:rPr sz="16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same</a:t>
            </a:r>
            <a:r>
              <a:rPr sz="16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trend.</a:t>
            </a:r>
            <a:r>
              <a:rPr sz="1600" u="sng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recommended to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keep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eye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track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through</a:t>
            </a:r>
            <a:r>
              <a:rPr sz="16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FLASH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SMS</a:t>
            </a:r>
            <a:r>
              <a:rPr sz="1600" u="sng" spc="-9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</a:t>
            </a:r>
            <a:r>
              <a:rPr sz="1600" u="sng" spc="-6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mentioning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detailed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</a:t>
            </a:r>
            <a:r>
              <a:rPr sz="16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history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respective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credit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card</a:t>
            </a:r>
            <a:r>
              <a:rPr sz="16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00"/>
                </a:solidFill>
                <a:latin typeface="Times New Roman"/>
                <a:cs typeface="Times New Roman"/>
              </a:rPr>
              <a:t>holde</a:t>
            </a:r>
            <a:r>
              <a:rPr sz="1600" spc="-10" dirty="0">
                <a:solidFill>
                  <a:srgbClr val="FFFF00"/>
                </a:solidFill>
                <a:latin typeface="Century Gothic"/>
                <a:cs typeface="Century Gothic"/>
              </a:rPr>
              <a:t>rs</a:t>
            </a:r>
            <a:r>
              <a:rPr sz="1400" spc="-10" dirty="0">
                <a:solidFill>
                  <a:srgbClr val="FFFF00"/>
                </a:solidFill>
                <a:latin typeface="Century Gothic"/>
                <a:cs typeface="Century Gothic"/>
              </a:rPr>
              <a:t>.</a:t>
            </a:r>
            <a:endParaRPr sz="1400" dirty="0">
              <a:latin typeface="Century Gothic"/>
              <a:cs typeface="Century Gothic"/>
            </a:endParaRPr>
          </a:p>
          <a:p>
            <a:pPr marL="20320" marR="144145" indent="224154">
              <a:lnSpc>
                <a:spcPts val="1860"/>
              </a:lnSpc>
              <a:spcBef>
                <a:spcPts val="390"/>
              </a:spcBef>
              <a:buSzPct val="88888"/>
              <a:buFont typeface="Century Gothic"/>
              <a:buAutoNum type="arabicPeriod"/>
              <a:tabLst>
                <a:tab pos="24447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majorly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odd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i.e.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between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22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3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Hr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so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banks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needs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ensure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send</a:t>
            </a:r>
            <a:r>
              <a:rPr sz="18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SMS</a:t>
            </a:r>
            <a:r>
              <a:rPr sz="1800" u="sng" spc="-114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</a:t>
            </a:r>
            <a:r>
              <a:rPr sz="1800" u="sng" spc="-5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during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such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odd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hours.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4FBD6D55-7340-23CB-B9F6-A4D5129CF5CC}"/>
              </a:ext>
            </a:extLst>
          </p:cNvPr>
          <p:cNvSpPr txBox="1">
            <a:spLocks/>
          </p:cNvSpPr>
          <p:nvPr/>
        </p:nvSpPr>
        <p:spPr>
          <a:xfrm>
            <a:off x="1905000" y="217853"/>
            <a:ext cx="89916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Times New Roman"/>
                <a:cs typeface="Times New Roman"/>
              </a:rPr>
              <a:t>BUSINESS RECOMMENDATION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298929"/>
            <a:ext cx="9656827" cy="4260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3800" b="0" dirty="0">
                <a:solidFill>
                  <a:srgbClr val="FFFFFF"/>
                </a:solidFill>
                <a:latin typeface="Times New Roman"/>
                <a:cs typeface="Times New Roman"/>
              </a:rPr>
              <a:t>Thank </a:t>
            </a:r>
            <a:r>
              <a:rPr sz="138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13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{9CFC57F8-DAA4-B740-BFFA-0047AE24EB53}tf10001122</Template>
  <TotalTime>64</TotalTime>
  <Words>1621</Words>
  <Application>Microsoft Macintosh PowerPoint</Application>
  <PresentationFormat>Widescreen</PresentationFormat>
  <Paragraphs>190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Century Gothic</vt:lpstr>
      <vt:lpstr>Times New Roman</vt:lpstr>
      <vt:lpstr>Tw Cen MT</vt:lpstr>
      <vt:lpstr>Wingdings</vt:lpstr>
      <vt:lpstr>Wingdings 2</vt:lpstr>
      <vt:lpstr>Circuit</vt:lpstr>
      <vt:lpstr>CAPSTONE PROJECT</vt:lpstr>
      <vt:lpstr>AGENDA</vt:lpstr>
      <vt:lpstr>PowerPoint Presentation</vt:lpstr>
      <vt:lpstr>PowerPoint Presentation</vt:lpstr>
      <vt:lpstr>PowerPoint Presentation</vt:lpstr>
      <vt:lpstr>PowerPoint Presentation</vt:lpstr>
      <vt:lpstr>Visual representation of frequency of transactions and fraud_transactions month wisE</vt:lpstr>
      <vt:lpstr>PowerPoint Presentation</vt:lpstr>
      <vt:lpstr>1.Analysis based on Fraud transactions in different Months</vt:lpstr>
      <vt:lpstr>2. AnalYsis based on Fraud transactions in Weekdays</vt:lpstr>
      <vt:lpstr>3. Analysis based on Fraud transactions in Days</vt:lpstr>
      <vt:lpstr>4. Analysis based on Fraud transactions in Hours</vt:lpstr>
      <vt:lpstr>5. Analysis based on Fraud transactions in different Age_bins</vt:lpstr>
      <vt:lpstr>PowerPoint Presentation</vt:lpstr>
      <vt:lpstr>PowerPoint Presentation</vt:lpstr>
      <vt:lpstr>8. Analysis based on FrAud transactions in different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nidhi sharma</dc:creator>
  <cp:lastModifiedBy>Syed Mohammad  Bilal</cp:lastModifiedBy>
  <cp:revision>1</cp:revision>
  <dcterms:created xsi:type="dcterms:W3CDTF">2025-06-24T17:22:32Z</dcterms:created>
  <dcterms:modified xsi:type="dcterms:W3CDTF">2025-06-24T18:39:37Z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2025-06-24T00:00:00Z</vt:filetime>
  </property>
  <property fmtid="{D5CDD505-2E9C-101B-9397-08002B2CF9AE}" pid="5" name="Producer">
    <vt:lpwstr>3-Heights(TM) PDF Security Shell 4.8.25.2 (http://www.pdf-tools.com)</vt:lpwstr>
  </property>
</Properties>
</file>